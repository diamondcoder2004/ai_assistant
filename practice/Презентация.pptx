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78" r:id="rId5"/>
    <p:sldId id="260" r:id="rId6"/>
    <p:sldId id="263" r:id="rId7"/>
    <p:sldId id="294" r:id="rId8"/>
    <p:sldId id="287" r:id="rId9"/>
    <p:sldId id="286" r:id="rId10"/>
    <p:sldId id="285" r:id="rId11"/>
    <p:sldId id="288" r:id="rId12"/>
    <p:sldId id="295" r:id="rId13"/>
    <p:sldId id="293" r:id="rId14"/>
    <p:sldId id="290" r:id="rId15"/>
    <p:sldId id="265" r:id="rId16"/>
    <p:sldId id="279" r:id="rId17"/>
    <p:sldId id="292" r:id="rId18"/>
    <p:sldId id="277" r:id="rId19"/>
  </p:sldIdLst>
  <p:sldSz cx="9144000" cy="5143500" type="screen16x9"/>
  <p:notesSz cx="5143500" cy="9144000"/>
  <p:embeddedFontLst>
    <p:embeddedFont>
      <p:font typeface="Besley" panose="020B0604020202020204" charset="0"/>
      <p:regular r:id="rId21"/>
      <p:bold r:id="rId22"/>
      <p:italic r:id="rId23"/>
      <p:boldItalic r:id="rId24"/>
    </p:embeddedFont>
    <p:embeddedFont>
      <p:font typeface="Calibri" panose="020F0502020204030204" pitchFamily="34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6" roundtripDataSignature="AMtx7migYtQxS1jMEiD9S098/o7N2q1YhA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алмаз сабитов" initials="ас" lastIdx="2" clrIdx="0">
    <p:extLst>
      <p:ext uri="{19B8F6BF-5375-455C-9EA6-DF929625EA0E}">
        <p15:presenceInfo xmlns:p15="http://schemas.microsoft.com/office/powerpoint/2012/main" userId="85de0a12c7a6260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E6319E6-CE38-47E1-913C-5F39980A6936}">
  <a:tblStyle styleId="{5E6319E6-CE38-47E1-913C-5F39980A693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63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63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63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63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63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63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2B2B31"/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54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6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1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" name="Google Shape;11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Today, we will be conducting a project review for our upcoming initiatives.</a:t>
            </a:r>
            <a:b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review is crucial for aligning our goals and ensuring we are on track for success.</a:t>
            </a:r>
            <a:b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will focus on key metrics and outcomes that are relevant to our objectives for QX 2024.</a:t>
            </a:r>
            <a:b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Let's engage in a constructive discussion to address any challenges and celebrate our achievements.</a:t>
            </a:r>
            <a:endParaRPr/>
          </a:p>
        </p:txBody>
      </p:sp>
      <p:sp>
        <p:nvSpPr>
          <p:cNvPr id="12" name="Google Shape;12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g3aee4da00ad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" name="Google Shape;20;g3aee4da00ad_0_3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Алмаз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g3aee4da00ad_0_3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af42bbb276_2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" name="Google Shape;34;g3af42bbb276_2_1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FF0000"/>
                </a:solidFill>
                <a:latin typeface="Besley"/>
                <a:ea typeface="Besley"/>
                <a:cs typeface="Besley"/>
                <a:sym typeface="Besley"/>
              </a:rPr>
              <a:t>Наши ожидания от  консультанта –  способность давать потребителям ответы на большинство вопросов, касающихся услуги ТП.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g3af42bbb276_2_1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af42bbb27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3" name="Google Shape;183;g3af42bbb276_1_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FF0000"/>
                </a:solidFill>
                <a:latin typeface="Besley"/>
                <a:ea typeface="Besley"/>
                <a:cs typeface="Besley"/>
                <a:sym typeface="Besley"/>
              </a:rPr>
              <a:t>Наши ожидания от  консультанта –  способность давать потребителям ответы на большинство вопросов, касающихся услуги ТП.</a:t>
            </a:r>
            <a:endParaRPr>
              <a:solidFill>
                <a:srgbClr val="FF0000"/>
              </a:solidFill>
              <a:latin typeface="Besley"/>
              <a:ea typeface="Besley"/>
              <a:cs typeface="Besley"/>
              <a:sym typeface="Besley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FF0000"/>
                </a:solidFill>
                <a:latin typeface="Besley"/>
                <a:ea typeface="Besley"/>
                <a:cs typeface="Besley"/>
                <a:sym typeface="Besley"/>
              </a:rPr>
              <a:t>План внедрения</a:t>
            </a:r>
            <a:endParaRPr>
              <a:solidFill>
                <a:srgbClr val="FF0000"/>
              </a:solidFill>
              <a:latin typeface="Besley"/>
              <a:ea typeface="Besley"/>
              <a:cs typeface="Besley"/>
              <a:sym typeface="Besley"/>
            </a:endParaRPr>
          </a:p>
        </p:txBody>
      </p:sp>
      <p:sp>
        <p:nvSpPr>
          <p:cNvPr id="184" name="Google Shape;184;g3af42bbb276_1_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831524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af42bbb276_2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" name="Google Shape;57;g3af42bbb276_2_3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g3af42bbb276_2_3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9" name="Google Shape;89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9" name="Google Shape;89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180489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1" name="Google Shape;101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dk1"/>
                </a:solidFill>
                <a:latin typeface="Besley"/>
                <a:ea typeface="Besley"/>
                <a:cs typeface="Besley"/>
                <a:sym typeface="Besley"/>
              </a:rPr>
              <a:t> </a:t>
            </a:r>
            <a:r>
              <a:rPr lang="en-US">
                <a:solidFill>
                  <a:schemeClr val="dk1"/>
                </a:solidFill>
              </a:rPr>
              <a:t>Embedding – </a:t>
            </a:r>
            <a:r>
              <a:rPr lang="en-US">
                <a:solidFill>
                  <a:schemeClr val="dk1"/>
                </a:solidFill>
                <a:latin typeface="Besley"/>
                <a:ea typeface="Besley"/>
                <a:cs typeface="Besley"/>
                <a:sym typeface="Besley"/>
              </a:rPr>
              <a:t>способ представления объектов (слов, предложений, изображений и других типов данных)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Besley"/>
                <a:ea typeface="Besley"/>
                <a:cs typeface="Besley"/>
                <a:sym typeface="Besley"/>
              </a:rPr>
              <a:t> в виде числовых векторов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175170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1" name="Google Shape;101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dk1"/>
                </a:solidFill>
                <a:latin typeface="Besley"/>
                <a:ea typeface="Besley"/>
                <a:cs typeface="Besley"/>
                <a:sym typeface="Besley"/>
              </a:rPr>
              <a:t> </a:t>
            </a:r>
            <a:r>
              <a:rPr lang="en-US">
                <a:solidFill>
                  <a:schemeClr val="dk1"/>
                </a:solidFill>
              </a:rPr>
              <a:t>Embedding – </a:t>
            </a:r>
            <a:r>
              <a:rPr lang="en-US">
                <a:solidFill>
                  <a:schemeClr val="dk1"/>
                </a:solidFill>
                <a:latin typeface="Besley"/>
                <a:ea typeface="Besley"/>
                <a:cs typeface="Besley"/>
                <a:sym typeface="Besley"/>
              </a:rPr>
              <a:t>способ представления объектов (слов, предложений, изображений и других типов данных)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Besley"/>
                <a:ea typeface="Besley"/>
                <a:cs typeface="Besley"/>
                <a:sym typeface="Besley"/>
              </a:rPr>
              <a:t> в виде числовых векторов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186227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9" name="Google Shape;89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772224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1" name="Google Shape;101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dk1"/>
                </a:solidFill>
                <a:latin typeface="Besley"/>
                <a:ea typeface="Besley"/>
                <a:cs typeface="Besley"/>
                <a:sym typeface="Besley"/>
              </a:rPr>
              <a:t> </a:t>
            </a:r>
            <a:r>
              <a:rPr lang="en-US">
                <a:solidFill>
                  <a:schemeClr val="dk1"/>
                </a:solidFill>
              </a:rPr>
              <a:t>Embedding – </a:t>
            </a:r>
            <a:r>
              <a:rPr lang="en-US">
                <a:solidFill>
                  <a:schemeClr val="dk1"/>
                </a:solidFill>
                <a:latin typeface="Besley"/>
                <a:ea typeface="Besley"/>
                <a:cs typeface="Besley"/>
                <a:sym typeface="Besley"/>
              </a:rPr>
              <a:t>способ представления объектов (слов, предложений, изображений и других типов данных)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Besley"/>
                <a:ea typeface="Besley"/>
                <a:cs typeface="Besley"/>
                <a:sym typeface="Besley"/>
              </a:rPr>
              <a:t> в виде числовых векторов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816115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1" name="Google Shape;101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dk1"/>
                </a:solidFill>
                <a:latin typeface="Besley"/>
                <a:ea typeface="Besley"/>
                <a:cs typeface="Besley"/>
                <a:sym typeface="Besley"/>
              </a:rPr>
              <a:t> </a:t>
            </a:r>
            <a:r>
              <a:rPr lang="en-US">
                <a:solidFill>
                  <a:schemeClr val="dk1"/>
                </a:solidFill>
              </a:rPr>
              <a:t>Embedding – </a:t>
            </a:r>
            <a:r>
              <a:rPr lang="en-US">
                <a:solidFill>
                  <a:schemeClr val="dk1"/>
                </a:solidFill>
                <a:latin typeface="Besley"/>
                <a:ea typeface="Besley"/>
                <a:cs typeface="Besley"/>
                <a:sym typeface="Besley"/>
              </a:rPr>
              <a:t>способ представления объектов (слов, предложений, изображений и других типов данных)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Besley"/>
                <a:ea typeface="Besley"/>
                <a:cs typeface="Besley"/>
                <a:sym typeface="Besley"/>
              </a:rPr>
              <a:t> в виде числовых векторов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492128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1" name="Google Shape;101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dk1"/>
                </a:solidFill>
                <a:latin typeface="Besley"/>
                <a:ea typeface="Besley"/>
                <a:cs typeface="Besley"/>
                <a:sym typeface="Besley"/>
              </a:rPr>
              <a:t> </a:t>
            </a:r>
            <a:r>
              <a:rPr lang="en-US">
                <a:solidFill>
                  <a:schemeClr val="dk1"/>
                </a:solidFill>
              </a:rPr>
              <a:t>Embedding – </a:t>
            </a:r>
            <a:r>
              <a:rPr lang="en-US">
                <a:solidFill>
                  <a:schemeClr val="dk1"/>
                </a:solidFill>
                <a:latin typeface="Besley"/>
                <a:ea typeface="Besley"/>
                <a:cs typeface="Besley"/>
                <a:sym typeface="Besley"/>
              </a:rPr>
              <a:t>способ представления объектов (слов, предложений, изображений и других типов данных)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Besley"/>
                <a:ea typeface="Besley"/>
                <a:cs typeface="Besley"/>
                <a:sym typeface="Besley"/>
              </a:rPr>
              <a:t> в виде числовых векторов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034570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1" name="Google Shape;101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dk1"/>
                </a:solidFill>
                <a:latin typeface="Besley"/>
                <a:ea typeface="Besley"/>
                <a:cs typeface="Besley"/>
                <a:sym typeface="Besley"/>
              </a:rPr>
              <a:t> </a:t>
            </a:r>
            <a:r>
              <a:rPr lang="en-US">
                <a:solidFill>
                  <a:schemeClr val="dk1"/>
                </a:solidFill>
              </a:rPr>
              <a:t>Embedding – </a:t>
            </a:r>
            <a:r>
              <a:rPr lang="en-US">
                <a:solidFill>
                  <a:schemeClr val="dk1"/>
                </a:solidFill>
                <a:latin typeface="Besley"/>
                <a:ea typeface="Besley"/>
                <a:cs typeface="Besley"/>
                <a:sym typeface="Besley"/>
              </a:rPr>
              <a:t>способ представления объектов (слов, предложений, изображений и других типов данных)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Besley"/>
                <a:ea typeface="Besley"/>
                <a:cs typeface="Besley"/>
                <a:sym typeface="Besley"/>
              </a:rPr>
              <a:t> в виде числовых векторов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608619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2" name="Google Shape;112;p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1">
                <a:solidFill>
                  <a:srgbClr val="F7F8FC"/>
                </a:solidFill>
                <a:highlight>
                  <a:srgbClr val="2B2B31"/>
                </a:highlight>
              </a:rPr>
              <a:t>🔹 Слайд 10: Инструментальные средства разработки</a:t>
            </a:r>
            <a:endParaRPr sz="1300" b="1">
              <a:solidFill>
                <a:srgbClr val="F7F8FC"/>
              </a:solidFill>
              <a:highlight>
                <a:srgbClr val="2B2B31"/>
              </a:highlight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7F8FC"/>
              </a:buClr>
              <a:buSzPts val="1200"/>
              <a:buChar char="●"/>
            </a:pPr>
            <a:r>
              <a:rPr lang="en-US" sz="1200">
                <a:solidFill>
                  <a:srgbClr val="F7F8FC"/>
                </a:solidFill>
                <a:highlight>
                  <a:srgbClr val="2B2B31"/>
                </a:highlight>
              </a:rPr>
              <a:t>FastAPI — для создания REST API с автоматической документацией</a:t>
            </a:r>
            <a:endParaRPr sz="1200">
              <a:solidFill>
                <a:srgbClr val="F7F8FC"/>
              </a:solidFill>
              <a:highlight>
                <a:srgbClr val="2B2B31"/>
              </a:highlight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F8FC"/>
              </a:buClr>
              <a:buSzPts val="1200"/>
              <a:buChar char="●"/>
            </a:pPr>
            <a:r>
              <a:rPr lang="en-US" sz="1200">
                <a:solidFill>
                  <a:srgbClr val="F7F8FC"/>
                </a:solidFill>
                <a:highlight>
                  <a:srgbClr val="2B2B31"/>
                </a:highlight>
              </a:rPr>
              <a:t>Qdrant — векторная база данных с поддержкой метаданных</a:t>
            </a:r>
            <a:endParaRPr sz="1200">
              <a:solidFill>
                <a:srgbClr val="F7F8FC"/>
              </a:solidFill>
              <a:highlight>
                <a:srgbClr val="2B2B31"/>
              </a:highlight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F8FC"/>
              </a:buClr>
              <a:buSzPts val="1200"/>
              <a:buChar char="●"/>
            </a:pPr>
            <a:r>
              <a:rPr lang="en-US" sz="1200">
                <a:solidFill>
                  <a:srgbClr val="F7F8FC"/>
                </a:solidFill>
                <a:highlight>
                  <a:srgbClr val="2B2B31"/>
                </a:highlight>
              </a:rPr>
              <a:t>Ollama — локальный запуск LLM с квантизацией</a:t>
            </a:r>
            <a:endParaRPr sz="1200">
              <a:solidFill>
                <a:srgbClr val="F7F8FC"/>
              </a:solidFill>
              <a:highlight>
                <a:srgbClr val="2B2B31"/>
              </a:highlight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F8FC"/>
              </a:buClr>
              <a:buSzPts val="1200"/>
              <a:buChar char="●"/>
            </a:pPr>
            <a:r>
              <a:rPr lang="en-US" sz="1200">
                <a:solidFill>
                  <a:srgbClr val="F7F8FC"/>
                </a:solidFill>
                <a:highlight>
                  <a:srgbClr val="2B2B31"/>
                </a:highlight>
              </a:rPr>
              <a:t>Hugging Face — embedding-модели (ru-en, open-source)</a:t>
            </a:r>
            <a:endParaRPr sz="1200">
              <a:solidFill>
                <a:srgbClr val="F7F8FC"/>
              </a:solidFill>
              <a:highlight>
                <a:srgbClr val="2B2B31"/>
              </a:highlight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F8FC"/>
              </a:buClr>
              <a:buSzPts val="1200"/>
              <a:buChar char="●"/>
            </a:pPr>
            <a:r>
              <a:rPr lang="en-US" sz="1200">
                <a:solidFill>
                  <a:srgbClr val="F7F8FC"/>
                </a:solidFill>
                <a:highlight>
                  <a:srgbClr val="2B2B31"/>
                </a:highlight>
              </a:rPr>
              <a:t>Docker — изоляция и воспроизводимость окружения</a:t>
            </a:r>
            <a:endParaRPr sz="1200">
              <a:solidFill>
                <a:srgbClr val="F7F8FC"/>
              </a:solidFill>
              <a:highlight>
                <a:srgbClr val="2B2B31"/>
              </a:highlight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F8FC"/>
              </a:buClr>
              <a:buSzPts val="1200"/>
              <a:buChar char="●"/>
            </a:pPr>
            <a:r>
              <a:rPr lang="en-US" sz="1200">
                <a:solidFill>
                  <a:srgbClr val="F7F8FC"/>
                </a:solidFill>
                <a:highlight>
                  <a:srgbClr val="2B2B31"/>
                </a:highlight>
              </a:rPr>
              <a:t>VS Code — кроссплатформенная IDE</a:t>
            </a:r>
            <a:endParaRPr sz="1200">
              <a:solidFill>
                <a:srgbClr val="F7F8FC"/>
              </a:solidFill>
              <a:highlight>
                <a:srgbClr val="2B2B31"/>
              </a:highlight>
            </a:endParaRPr>
          </a:p>
          <a:p>
            <a:pPr marL="0" marR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af42bbb27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3" name="Google Shape;183;g3af42bbb276_1_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FF0000"/>
                </a:solidFill>
                <a:latin typeface="Besley"/>
                <a:ea typeface="Besley"/>
                <a:cs typeface="Besley"/>
                <a:sym typeface="Besley"/>
              </a:rPr>
              <a:t>Наши ожидания от  консультанта –  способность давать потребителям ответы на большинство вопросов, касающихся услуги ТП.</a:t>
            </a:r>
            <a:endParaRPr>
              <a:solidFill>
                <a:srgbClr val="FF0000"/>
              </a:solidFill>
              <a:latin typeface="Besley"/>
              <a:ea typeface="Besley"/>
              <a:cs typeface="Besley"/>
              <a:sym typeface="Besley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FF0000"/>
                </a:solidFill>
                <a:latin typeface="Besley"/>
                <a:ea typeface="Besley"/>
                <a:cs typeface="Besley"/>
                <a:sym typeface="Besley"/>
              </a:rPr>
              <a:t>План внедрения</a:t>
            </a:r>
            <a:endParaRPr>
              <a:solidFill>
                <a:srgbClr val="FF0000"/>
              </a:solidFill>
              <a:latin typeface="Besley"/>
              <a:ea typeface="Besley"/>
              <a:cs typeface="Besley"/>
              <a:sym typeface="Besley"/>
            </a:endParaRPr>
          </a:p>
        </p:txBody>
      </p:sp>
      <p:sp>
        <p:nvSpPr>
          <p:cNvPr id="184" name="Google Shape;184;g3af42bbb276_1_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4554604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1" name="Google Shape;101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dk1"/>
                </a:solidFill>
                <a:latin typeface="Besley"/>
                <a:ea typeface="Besley"/>
                <a:cs typeface="Besley"/>
                <a:sym typeface="Besley"/>
              </a:rPr>
              <a:t> </a:t>
            </a:r>
            <a:r>
              <a:rPr lang="en-US">
                <a:solidFill>
                  <a:schemeClr val="dk1"/>
                </a:solidFill>
              </a:rPr>
              <a:t>Embedding – </a:t>
            </a:r>
            <a:r>
              <a:rPr lang="en-US">
                <a:solidFill>
                  <a:schemeClr val="dk1"/>
                </a:solidFill>
                <a:latin typeface="Besley"/>
                <a:ea typeface="Besley"/>
                <a:cs typeface="Besley"/>
                <a:sym typeface="Besley"/>
              </a:rPr>
              <a:t>способ представления объектов (слов, предложений, изображений и других типов данных)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Besley"/>
                <a:ea typeface="Besley"/>
                <a:cs typeface="Besley"/>
                <a:sym typeface="Besley"/>
              </a:rPr>
              <a:t> в виде числовых векторов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442545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af42bbb276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0" name="Google Shape;280;g3af42bbb276_2_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g3af42bbb276_2_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chemeClr val="tx1"/>
                </a:solidFill>
              </a:defRPr>
            </a:lvl1pPr>
            <a:lvl2pPr lvl="1" algn="r">
              <a:buNone/>
              <a:defRPr sz="1300">
                <a:solidFill>
                  <a:schemeClr val="tx1"/>
                </a:solidFill>
              </a:defRPr>
            </a:lvl2pPr>
            <a:lvl3pPr lvl="2" algn="r">
              <a:buNone/>
              <a:defRPr sz="1300">
                <a:solidFill>
                  <a:schemeClr val="tx1"/>
                </a:solidFill>
              </a:defRPr>
            </a:lvl3pPr>
            <a:lvl4pPr lvl="3" algn="r">
              <a:buNone/>
              <a:defRPr sz="1300">
                <a:solidFill>
                  <a:schemeClr val="tx1"/>
                </a:solidFill>
              </a:defRPr>
            </a:lvl4pPr>
            <a:lvl5pPr lvl="4" algn="r">
              <a:buNone/>
              <a:defRPr sz="1300">
                <a:solidFill>
                  <a:schemeClr val="tx1"/>
                </a:solidFill>
              </a:defRPr>
            </a:lvl5pPr>
            <a:lvl6pPr lvl="5" algn="r">
              <a:buNone/>
              <a:defRPr sz="1300">
                <a:solidFill>
                  <a:schemeClr val="tx1"/>
                </a:solidFill>
              </a:defRPr>
            </a:lvl6pPr>
            <a:lvl7pPr lvl="6" algn="r">
              <a:buNone/>
              <a:defRPr sz="1300">
                <a:solidFill>
                  <a:schemeClr val="tx1"/>
                </a:solidFill>
              </a:defRPr>
            </a:lvl7pPr>
            <a:lvl8pPr lvl="7" algn="r">
              <a:buNone/>
              <a:defRPr sz="1300">
                <a:solidFill>
                  <a:schemeClr val="tx1"/>
                </a:solidFill>
              </a:defRPr>
            </a:lvl8pPr>
            <a:lvl9pPr lvl="8" algn="r">
              <a:buNone/>
              <a:defRPr sz="1300">
                <a:solidFill>
                  <a:schemeClr val="tx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Google Shape;14;p1"/>
          <p:cNvCxnSpPr/>
          <p:nvPr/>
        </p:nvCxnSpPr>
        <p:spPr>
          <a:xfrm>
            <a:off x="0" y="4819650"/>
            <a:ext cx="9144000" cy="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" name="Google Shape;15;p1"/>
          <p:cNvSpPr/>
          <p:nvPr/>
        </p:nvSpPr>
        <p:spPr>
          <a:xfrm>
            <a:off x="749700" y="3686751"/>
            <a:ext cx="8556450" cy="9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Besley"/>
              <a:buNone/>
            </a:pPr>
            <a:r>
              <a:rPr lang="en-US" sz="1200" dirty="0" err="1">
                <a:latin typeface="Besley"/>
                <a:ea typeface="Besley"/>
                <a:cs typeface="Besley"/>
                <a:sym typeface="Besley"/>
              </a:rPr>
              <a:t>Выполнил</a:t>
            </a:r>
            <a:r>
              <a:rPr lang="en-US" sz="1200" dirty="0">
                <a:latin typeface="Besley"/>
                <a:ea typeface="Besley"/>
                <a:cs typeface="Besley"/>
                <a:sym typeface="Besley"/>
              </a:rPr>
              <a:t>: 				</a:t>
            </a:r>
            <a:r>
              <a:rPr lang="en-US" sz="1200" dirty="0" err="1">
                <a:latin typeface="Besley"/>
                <a:ea typeface="Besley"/>
                <a:cs typeface="Besley"/>
                <a:sym typeface="Besley"/>
              </a:rPr>
              <a:t>студент</a:t>
            </a:r>
            <a:r>
              <a:rPr lang="en-US" sz="1200" dirty="0">
                <a:latin typeface="Besley"/>
                <a:ea typeface="Besley"/>
                <a:cs typeface="Besley"/>
                <a:sym typeface="Besley"/>
              </a:rPr>
              <a:t> </a:t>
            </a:r>
            <a:r>
              <a:rPr lang="en-US" sz="1200" dirty="0" err="1">
                <a:latin typeface="Besley"/>
                <a:ea typeface="Besley"/>
                <a:cs typeface="Besley"/>
                <a:sym typeface="Besley"/>
              </a:rPr>
              <a:t>группы</a:t>
            </a:r>
            <a:r>
              <a:rPr lang="en-US" sz="1200" dirty="0">
                <a:latin typeface="Besley"/>
                <a:ea typeface="Besley"/>
                <a:cs typeface="Besley"/>
                <a:sym typeface="Besley"/>
              </a:rPr>
              <a:t> БПОи-22-04 Сабитов Алмаз </a:t>
            </a:r>
            <a:r>
              <a:rPr lang="en-US" sz="1200" dirty="0" err="1">
                <a:latin typeface="Besley"/>
                <a:ea typeface="Besley"/>
                <a:cs typeface="Besley"/>
                <a:sym typeface="Besley"/>
              </a:rPr>
              <a:t>Фаризович</a:t>
            </a:r>
            <a:endParaRPr sz="1200" dirty="0">
              <a:latin typeface="Besley"/>
              <a:ea typeface="Besley"/>
              <a:cs typeface="Besley"/>
              <a:sym typeface="Besley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Besley"/>
              <a:buNone/>
            </a:pPr>
            <a:r>
              <a:rPr lang="en-US" sz="1200" dirty="0" err="1">
                <a:latin typeface="Besley"/>
                <a:ea typeface="Besley"/>
                <a:cs typeface="Besley"/>
                <a:sym typeface="Besley"/>
              </a:rPr>
              <a:t>Руководитель</a:t>
            </a:r>
            <a:r>
              <a:rPr lang="en-US" sz="1200" dirty="0">
                <a:latin typeface="Besley"/>
                <a:ea typeface="Besley"/>
                <a:cs typeface="Besley"/>
                <a:sym typeface="Besley"/>
              </a:rPr>
              <a:t>: 			</a:t>
            </a:r>
            <a:r>
              <a:rPr lang="en-US" sz="1200" dirty="0" err="1">
                <a:latin typeface="Besley"/>
                <a:ea typeface="Besley"/>
                <a:cs typeface="Besley"/>
                <a:sym typeface="Besley"/>
              </a:rPr>
              <a:t>доцент</a:t>
            </a:r>
            <a:r>
              <a:rPr lang="en-US" sz="1200" dirty="0">
                <a:latin typeface="Besley"/>
                <a:ea typeface="Besley"/>
                <a:cs typeface="Besley"/>
                <a:sym typeface="Besley"/>
              </a:rPr>
              <a:t> </a:t>
            </a:r>
            <a:r>
              <a:rPr lang="en-US" sz="1200" dirty="0" err="1">
                <a:latin typeface="Besley"/>
                <a:ea typeface="Besley"/>
                <a:cs typeface="Besley"/>
                <a:sym typeface="Besley"/>
              </a:rPr>
              <a:t>кафедры</a:t>
            </a:r>
            <a:r>
              <a:rPr lang="en-US" sz="1200" dirty="0">
                <a:latin typeface="Besley"/>
                <a:ea typeface="Besley"/>
                <a:cs typeface="Besley"/>
                <a:sym typeface="Besley"/>
              </a:rPr>
              <a:t> ВТИК </a:t>
            </a:r>
            <a:r>
              <a:rPr lang="en-US" sz="1200" dirty="0" err="1">
                <a:latin typeface="Besley"/>
                <a:ea typeface="Besley"/>
                <a:cs typeface="Besley"/>
                <a:sym typeface="Besley"/>
              </a:rPr>
              <a:t>Гиниятуллин</a:t>
            </a:r>
            <a:r>
              <a:rPr lang="en-US" sz="1200" dirty="0">
                <a:latin typeface="Besley"/>
                <a:ea typeface="Besley"/>
                <a:cs typeface="Besley"/>
                <a:sym typeface="Besley"/>
              </a:rPr>
              <a:t> </a:t>
            </a:r>
            <a:r>
              <a:rPr lang="en-US" sz="1200" dirty="0" err="1">
                <a:latin typeface="Besley"/>
                <a:ea typeface="Besley"/>
                <a:cs typeface="Besley"/>
                <a:sym typeface="Besley"/>
              </a:rPr>
              <a:t>Вахит</a:t>
            </a:r>
            <a:r>
              <a:rPr lang="en-US" sz="1200" dirty="0">
                <a:latin typeface="Besley"/>
                <a:ea typeface="Besley"/>
                <a:cs typeface="Besley"/>
                <a:sym typeface="Besley"/>
              </a:rPr>
              <a:t> </a:t>
            </a:r>
            <a:r>
              <a:rPr lang="en-US" sz="1200" dirty="0" err="1">
                <a:latin typeface="Besley"/>
                <a:ea typeface="Besley"/>
                <a:cs typeface="Besley"/>
                <a:sym typeface="Besley"/>
              </a:rPr>
              <a:t>Мансурович</a:t>
            </a:r>
            <a:endParaRPr sz="1200" dirty="0">
              <a:latin typeface="Besley"/>
              <a:ea typeface="Besley"/>
              <a:cs typeface="Besley"/>
              <a:sym typeface="Besley"/>
            </a:endParaRPr>
          </a:p>
        </p:txBody>
      </p:sp>
      <p:sp>
        <p:nvSpPr>
          <p:cNvPr id="16" name="Google Shape;16;p1"/>
          <p:cNvSpPr txBox="1"/>
          <p:nvPr/>
        </p:nvSpPr>
        <p:spPr>
          <a:xfrm>
            <a:off x="1594775" y="86200"/>
            <a:ext cx="6374700" cy="10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Besley"/>
              <a:buNone/>
            </a:pPr>
            <a:r>
              <a:rPr lang="en-US" dirty="0" err="1">
                <a:latin typeface="Besley"/>
                <a:ea typeface="Besley"/>
                <a:cs typeface="Besley"/>
                <a:sym typeface="Besley"/>
              </a:rPr>
              <a:t>Федеральное</a:t>
            </a:r>
            <a:r>
              <a:rPr lang="en-US" dirty="0">
                <a:latin typeface="Besley"/>
                <a:ea typeface="Besley"/>
                <a:cs typeface="Besley"/>
                <a:sym typeface="Besley"/>
              </a:rPr>
              <a:t> </a:t>
            </a:r>
            <a:r>
              <a:rPr lang="en-US" dirty="0" err="1">
                <a:latin typeface="Besley"/>
                <a:ea typeface="Besley"/>
                <a:cs typeface="Besley"/>
                <a:sym typeface="Besley"/>
              </a:rPr>
              <a:t>государственное</a:t>
            </a:r>
            <a:r>
              <a:rPr lang="en-US" dirty="0">
                <a:latin typeface="Besley"/>
                <a:ea typeface="Besley"/>
                <a:cs typeface="Besley"/>
                <a:sym typeface="Besley"/>
              </a:rPr>
              <a:t> </a:t>
            </a:r>
            <a:r>
              <a:rPr lang="en-US" dirty="0" err="1">
                <a:latin typeface="Besley"/>
                <a:ea typeface="Besley"/>
                <a:cs typeface="Besley"/>
                <a:sym typeface="Besley"/>
              </a:rPr>
              <a:t>бюджетное</a:t>
            </a:r>
            <a:r>
              <a:rPr lang="en-US" dirty="0">
                <a:latin typeface="Besley"/>
                <a:ea typeface="Besley"/>
                <a:cs typeface="Besley"/>
                <a:sym typeface="Besley"/>
              </a:rPr>
              <a:t> </a:t>
            </a:r>
            <a:r>
              <a:rPr lang="en-US" dirty="0" err="1">
                <a:latin typeface="Besley"/>
                <a:ea typeface="Besley"/>
                <a:cs typeface="Besley"/>
                <a:sym typeface="Besley"/>
              </a:rPr>
              <a:t>образовательное</a:t>
            </a:r>
            <a:r>
              <a:rPr lang="en-US" dirty="0">
                <a:latin typeface="Besley"/>
                <a:ea typeface="Besley"/>
                <a:cs typeface="Besley"/>
                <a:sym typeface="Besley"/>
              </a:rPr>
              <a:t> </a:t>
            </a:r>
            <a:r>
              <a:rPr lang="en-US" dirty="0" err="1">
                <a:latin typeface="Besley"/>
                <a:ea typeface="Besley"/>
                <a:cs typeface="Besley"/>
                <a:sym typeface="Besley"/>
              </a:rPr>
              <a:t>учреждение</a:t>
            </a:r>
            <a:endParaRPr dirty="0">
              <a:latin typeface="Besley"/>
              <a:ea typeface="Besley"/>
              <a:cs typeface="Besley"/>
              <a:sym typeface="Besley"/>
            </a:endParaRPr>
          </a:p>
          <a:p>
            <a:pPr marL="0" marR="0" lvl="0" indent="0" algn="ctr" rtl="0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Besley"/>
              <a:buNone/>
            </a:pPr>
            <a:r>
              <a:rPr lang="en-US" dirty="0" err="1">
                <a:latin typeface="Besley"/>
                <a:ea typeface="Besley"/>
                <a:cs typeface="Besley"/>
                <a:sym typeface="Besley"/>
              </a:rPr>
              <a:t>высшего</a:t>
            </a:r>
            <a:r>
              <a:rPr lang="en-US" dirty="0">
                <a:latin typeface="Besley"/>
                <a:ea typeface="Besley"/>
                <a:cs typeface="Besley"/>
                <a:sym typeface="Besley"/>
              </a:rPr>
              <a:t> </a:t>
            </a:r>
            <a:r>
              <a:rPr lang="en-US" dirty="0" err="1">
                <a:latin typeface="Besley"/>
                <a:ea typeface="Besley"/>
                <a:cs typeface="Besley"/>
                <a:sym typeface="Besley"/>
              </a:rPr>
              <a:t>образования</a:t>
            </a:r>
            <a:endParaRPr dirty="0">
              <a:latin typeface="Besley"/>
              <a:ea typeface="Besley"/>
              <a:cs typeface="Besley"/>
              <a:sym typeface="Besley"/>
            </a:endParaRPr>
          </a:p>
          <a:p>
            <a:pPr marL="0" marR="0" lvl="0" indent="0" algn="ctr" rtl="0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Besley"/>
              <a:buNone/>
            </a:pPr>
            <a:r>
              <a:rPr lang="en-US" dirty="0" err="1">
                <a:latin typeface="Besley"/>
                <a:ea typeface="Besley"/>
                <a:cs typeface="Besley"/>
                <a:sym typeface="Besley"/>
              </a:rPr>
              <a:t>Уфимский</a:t>
            </a:r>
            <a:r>
              <a:rPr lang="en-US" dirty="0">
                <a:latin typeface="Besley"/>
                <a:ea typeface="Besley"/>
                <a:cs typeface="Besley"/>
                <a:sym typeface="Besley"/>
              </a:rPr>
              <a:t> </a:t>
            </a:r>
            <a:r>
              <a:rPr lang="en-US" dirty="0" err="1">
                <a:latin typeface="Besley"/>
                <a:ea typeface="Besley"/>
                <a:cs typeface="Besley"/>
                <a:sym typeface="Besley"/>
              </a:rPr>
              <a:t>государственный</a:t>
            </a:r>
            <a:r>
              <a:rPr lang="en-US" dirty="0">
                <a:latin typeface="Besley"/>
                <a:ea typeface="Besley"/>
                <a:cs typeface="Besley"/>
                <a:sym typeface="Besley"/>
              </a:rPr>
              <a:t> </a:t>
            </a:r>
            <a:r>
              <a:rPr lang="en-US" dirty="0" err="1">
                <a:latin typeface="Besley"/>
                <a:ea typeface="Besley"/>
                <a:cs typeface="Besley"/>
                <a:sym typeface="Besley"/>
              </a:rPr>
              <a:t>нефтяной</a:t>
            </a:r>
            <a:r>
              <a:rPr lang="en-US" dirty="0">
                <a:latin typeface="Besley"/>
                <a:ea typeface="Besley"/>
                <a:cs typeface="Besley"/>
                <a:sym typeface="Besley"/>
              </a:rPr>
              <a:t> </a:t>
            </a:r>
            <a:r>
              <a:rPr lang="en-US" dirty="0" err="1">
                <a:latin typeface="Besley"/>
                <a:ea typeface="Besley"/>
                <a:cs typeface="Besley"/>
                <a:sym typeface="Besley"/>
              </a:rPr>
              <a:t>технический</a:t>
            </a:r>
            <a:r>
              <a:rPr lang="en-US" dirty="0">
                <a:latin typeface="Besley"/>
                <a:ea typeface="Besley"/>
                <a:cs typeface="Besley"/>
                <a:sym typeface="Besley"/>
              </a:rPr>
              <a:t> </a:t>
            </a:r>
            <a:r>
              <a:rPr lang="en-US" dirty="0" err="1">
                <a:latin typeface="Besley"/>
                <a:ea typeface="Besley"/>
                <a:cs typeface="Besley"/>
                <a:sym typeface="Besley"/>
              </a:rPr>
              <a:t>университет</a:t>
            </a:r>
            <a:endParaRPr dirty="0">
              <a:latin typeface="Besley"/>
              <a:ea typeface="Besley"/>
              <a:cs typeface="Besley"/>
              <a:sym typeface="Besley"/>
            </a:endParaRPr>
          </a:p>
          <a:p>
            <a:pPr marL="0" marR="0" lvl="0" indent="0" algn="ctr" rtl="0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Besley"/>
              <a:buNone/>
            </a:pPr>
            <a:r>
              <a:rPr lang="en-US" dirty="0">
                <a:latin typeface="Besley"/>
                <a:ea typeface="Besley"/>
                <a:cs typeface="Besley"/>
                <a:sym typeface="Besley"/>
              </a:rPr>
              <a:t> </a:t>
            </a:r>
            <a:r>
              <a:rPr lang="en-US" dirty="0" err="1">
                <a:latin typeface="Besley"/>
                <a:ea typeface="Besley"/>
                <a:cs typeface="Besley"/>
                <a:sym typeface="Besley"/>
              </a:rPr>
              <a:t>Кафедра</a:t>
            </a:r>
            <a:r>
              <a:rPr lang="en-US" dirty="0">
                <a:latin typeface="Besley"/>
                <a:ea typeface="Besley"/>
                <a:cs typeface="Besley"/>
                <a:sym typeface="Besley"/>
              </a:rPr>
              <a:t> </a:t>
            </a:r>
            <a:r>
              <a:rPr lang="en-US" dirty="0" err="1">
                <a:latin typeface="Besley"/>
                <a:ea typeface="Besley"/>
                <a:cs typeface="Besley"/>
                <a:sym typeface="Besley"/>
              </a:rPr>
              <a:t>вычислительной</a:t>
            </a:r>
            <a:r>
              <a:rPr lang="en-US" dirty="0">
                <a:latin typeface="Besley"/>
                <a:ea typeface="Besley"/>
                <a:cs typeface="Besley"/>
                <a:sym typeface="Besley"/>
              </a:rPr>
              <a:t> </a:t>
            </a:r>
            <a:r>
              <a:rPr lang="en-US" dirty="0" err="1">
                <a:latin typeface="Besley"/>
                <a:ea typeface="Besley"/>
                <a:cs typeface="Besley"/>
                <a:sym typeface="Besley"/>
              </a:rPr>
              <a:t>техники</a:t>
            </a:r>
            <a:r>
              <a:rPr lang="en-US" dirty="0">
                <a:latin typeface="Besley"/>
                <a:ea typeface="Besley"/>
                <a:cs typeface="Besley"/>
                <a:sym typeface="Besley"/>
              </a:rPr>
              <a:t> и </a:t>
            </a:r>
            <a:r>
              <a:rPr lang="en-US" dirty="0" err="1">
                <a:latin typeface="Besley"/>
                <a:ea typeface="Besley"/>
                <a:cs typeface="Besley"/>
                <a:sym typeface="Besley"/>
              </a:rPr>
              <a:t>инженерной</a:t>
            </a:r>
            <a:r>
              <a:rPr lang="en-US" dirty="0">
                <a:latin typeface="Besley"/>
                <a:ea typeface="Besley"/>
                <a:cs typeface="Besley"/>
                <a:sym typeface="Besley"/>
              </a:rPr>
              <a:t> </a:t>
            </a:r>
            <a:r>
              <a:rPr lang="en-US" dirty="0" err="1">
                <a:latin typeface="Besley"/>
                <a:ea typeface="Besley"/>
                <a:cs typeface="Besley"/>
                <a:sym typeface="Besley"/>
              </a:rPr>
              <a:t>кибернетики</a:t>
            </a:r>
            <a:endParaRPr dirty="0">
              <a:latin typeface="Besley"/>
              <a:ea typeface="Besley"/>
              <a:cs typeface="Besley"/>
              <a:sym typeface="Besley"/>
            </a:endParaRPr>
          </a:p>
        </p:txBody>
      </p:sp>
      <p:sp>
        <p:nvSpPr>
          <p:cNvPr id="17" name="Google Shape;17;p1"/>
          <p:cNvSpPr txBox="1"/>
          <p:nvPr/>
        </p:nvSpPr>
        <p:spPr>
          <a:xfrm>
            <a:off x="425700" y="1401575"/>
            <a:ext cx="8292600" cy="1777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dirty="0" err="1">
                <a:latin typeface="Besley"/>
                <a:ea typeface="Besley"/>
                <a:cs typeface="Besley"/>
                <a:sym typeface="Besley"/>
              </a:rPr>
              <a:t>Разработка</a:t>
            </a:r>
            <a:r>
              <a:rPr lang="en-US" sz="1800" dirty="0">
                <a:latin typeface="Besley"/>
                <a:ea typeface="Besley"/>
                <a:cs typeface="Besley"/>
                <a:sym typeface="Besley"/>
              </a:rPr>
              <a:t> </a:t>
            </a:r>
            <a:r>
              <a:rPr lang="en-US" sz="1800" dirty="0" err="1">
                <a:latin typeface="Besley"/>
                <a:ea typeface="Besley"/>
                <a:cs typeface="Besley"/>
                <a:sym typeface="Besley"/>
              </a:rPr>
              <a:t>интеллектуального</a:t>
            </a:r>
            <a:r>
              <a:rPr lang="en-US" sz="1800" dirty="0">
                <a:latin typeface="Besley"/>
                <a:ea typeface="Besley"/>
                <a:cs typeface="Besley"/>
                <a:sym typeface="Besley"/>
              </a:rPr>
              <a:t> </a:t>
            </a:r>
            <a:r>
              <a:rPr lang="en-US" sz="1800" dirty="0" err="1">
                <a:latin typeface="Besley"/>
                <a:ea typeface="Besley"/>
                <a:cs typeface="Besley"/>
                <a:sym typeface="Besley"/>
              </a:rPr>
              <a:t>ассистента</a:t>
            </a:r>
            <a:r>
              <a:rPr lang="en-US" sz="1800" dirty="0">
                <a:latin typeface="Besley"/>
                <a:ea typeface="Besley"/>
                <a:cs typeface="Besley"/>
                <a:sym typeface="Besley"/>
              </a:rPr>
              <a:t> 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dirty="0" err="1">
                <a:latin typeface="Besley"/>
                <a:ea typeface="Besley"/>
                <a:cs typeface="Besley"/>
                <a:sym typeface="Besley"/>
              </a:rPr>
              <a:t>на</a:t>
            </a:r>
            <a:r>
              <a:rPr lang="en-US" sz="1800" dirty="0">
                <a:latin typeface="Besley"/>
                <a:ea typeface="Besley"/>
                <a:cs typeface="Besley"/>
                <a:sym typeface="Besley"/>
              </a:rPr>
              <a:t> </a:t>
            </a:r>
            <a:r>
              <a:rPr lang="en-US" sz="1800" dirty="0" err="1">
                <a:latin typeface="Besley"/>
                <a:ea typeface="Besley"/>
                <a:cs typeface="Besley"/>
                <a:sym typeface="Besley"/>
              </a:rPr>
              <a:t>основе</a:t>
            </a:r>
            <a:r>
              <a:rPr lang="en-US" sz="1800" dirty="0">
                <a:latin typeface="Besley"/>
                <a:ea typeface="Besley"/>
                <a:cs typeface="Besley"/>
                <a:sym typeface="Besley"/>
              </a:rPr>
              <a:t> </a:t>
            </a:r>
            <a:r>
              <a:rPr lang="en-US" sz="1800" dirty="0" err="1">
                <a:latin typeface="Besley"/>
                <a:ea typeface="Besley"/>
                <a:cs typeface="Besley"/>
                <a:sym typeface="Besley"/>
              </a:rPr>
              <a:t>методов</a:t>
            </a:r>
            <a:r>
              <a:rPr lang="en-US" sz="1800" dirty="0">
                <a:latin typeface="Besley"/>
                <a:ea typeface="Besley"/>
                <a:cs typeface="Besley"/>
                <a:sym typeface="Besley"/>
              </a:rPr>
              <a:t> </a:t>
            </a:r>
            <a:r>
              <a:rPr lang="en-US" sz="1800" dirty="0" err="1">
                <a:latin typeface="Besley"/>
                <a:ea typeface="Besley"/>
                <a:cs typeface="Besley"/>
                <a:sym typeface="Besley"/>
              </a:rPr>
              <a:t>обработки</a:t>
            </a:r>
            <a:r>
              <a:rPr lang="en-US" sz="1800" dirty="0">
                <a:latin typeface="Besley"/>
                <a:ea typeface="Besley"/>
                <a:cs typeface="Besley"/>
                <a:sym typeface="Besley"/>
              </a:rPr>
              <a:t> </a:t>
            </a:r>
            <a:r>
              <a:rPr lang="en-US" sz="1800" dirty="0" err="1">
                <a:latin typeface="Besley"/>
                <a:ea typeface="Besley"/>
                <a:cs typeface="Besley"/>
                <a:sym typeface="Besley"/>
              </a:rPr>
              <a:t>естественного</a:t>
            </a:r>
            <a:r>
              <a:rPr lang="en-US" sz="1800" dirty="0">
                <a:latin typeface="Besley"/>
                <a:ea typeface="Besley"/>
                <a:cs typeface="Besley"/>
                <a:sym typeface="Besley"/>
              </a:rPr>
              <a:t> </a:t>
            </a:r>
            <a:r>
              <a:rPr lang="en-US" sz="1800" dirty="0" err="1">
                <a:latin typeface="Besley"/>
                <a:ea typeface="Besley"/>
                <a:cs typeface="Besley"/>
                <a:sym typeface="Besley"/>
              </a:rPr>
              <a:t>языка</a:t>
            </a:r>
            <a:r>
              <a:rPr lang="en-US" sz="1800" dirty="0">
                <a:latin typeface="Besley"/>
                <a:ea typeface="Besley"/>
                <a:cs typeface="Besley"/>
                <a:sym typeface="Besley"/>
              </a:rPr>
              <a:t> 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dirty="0" err="1">
                <a:latin typeface="Besley"/>
                <a:ea typeface="Besley"/>
                <a:cs typeface="Besley"/>
                <a:sym typeface="Besley"/>
              </a:rPr>
              <a:t>для</a:t>
            </a:r>
            <a:r>
              <a:rPr lang="en-US" sz="1800" dirty="0">
                <a:latin typeface="Besley"/>
                <a:ea typeface="Besley"/>
                <a:cs typeface="Besley"/>
                <a:sym typeface="Besley"/>
              </a:rPr>
              <a:t> </a:t>
            </a:r>
            <a:r>
              <a:rPr lang="en-US" sz="1800" dirty="0" err="1">
                <a:latin typeface="Besley"/>
                <a:ea typeface="Besley"/>
                <a:cs typeface="Besley"/>
                <a:sym typeface="Besley"/>
              </a:rPr>
              <a:t>автоматизации</a:t>
            </a:r>
            <a:r>
              <a:rPr lang="en-US" sz="1800" dirty="0">
                <a:latin typeface="Besley"/>
                <a:ea typeface="Besley"/>
                <a:cs typeface="Besley"/>
                <a:sym typeface="Besley"/>
              </a:rPr>
              <a:t> </a:t>
            </a:r>
            <a:r>
              <a:rPr lang="en-US" sz="1800" dirty="0" err="1">
                <a:latin typeface="Besley"/>
                <a:ea typeface="Besley"/>
                <a:cs typeface="Besley"/>
                <a:sym typeface="Besley"/>
              </a:rPr>
              <a:t>технической</a:t>
            </a:r>
            <a:r>
              <a:rPr lang="en-US" sz="1800" dirty="0">
                <a:latin typeface="Besley"/>
                <a:ea typeface="Besley"/>
                <a:cs typeface="Besley"/>
                <a:sym typeface="Besley"/>
              </a:rPr>
              <a:t> </a:t>
            </a:r>
            <a:r>
              <a:rPr lang="en-US" sz="1800" dirty="0" err="1">
                <a:latin typeface="Besley"/>
                <a:ea typeface="Besley"/>
                <a:cs typeface="Besley"/>
                <a:sym typeface="Besley"/>
              </a:rPr>
              <a:t>поддержки</a:t>
            </a:r>
            <a:r>
              <a:rPr lang="en-US" sz="1800" dirty="0">
                <a:latin typeface="Besley"/>
                <a:ea typeface="Besley"/>
                <a:cs typeface="Besley"/>
                <a:sym typeface="Besley"/>
              </a:rPr>
              <a:t> 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dirty="0" err="1">
                <a:latin typeface="Besley"/>
                <a:ea typeface="Besley"/>
                <a:cs typeface="Besley"/>
                <a:sym typeface="Besley"/>
              </a:rPr>
              <a:t>нулевого</a:t>
            </a:r>
            <a:r>
              <a:rPr lang="en-US" sz="1800" dirty="0">
                <a:latin typeface="Besley"/>
                <a:ea typeface="Besley"/>
                <a:cs typeface="Besley"/>
                <a:sym typeface="Besley"/>
              </a:rPr>
              <a:t> </a:t>
            </a:r>
            <a:r>
              <a:rPr lang="en-US" sz="1800" dirty="0" err="1">
                <a:latin typeface="Besley"/>
                <a:ea typeface="Besley"/>
                <a:cs typeface="Besley"/>
                <a:sym typeface="Besley"/>
              </a:rPr>
              <a:t>уровня</a:t>
            </a:r>
            <a:r>
              <a:rPr lang="en-US" sz="1800" dirty="0">
                <a:latin typeface="Besley"/>
                <a:ea typeface="Besley"/>
                <a:cs typeface="Besley"/>
                <a:sym typeface="Besley"/>
              </a:rPr>
              <a:t> в </a:t>
            </a:r>
            <a:r>
              <a:rPr lang="en-US" sz="1800" dirty="0" err="1">
                <a:latin typeface="Besley"/>
                <a:ea typeface="Besley"/>
                <a:cs typeface="Besley"/>
                <a:sym typeface="Besley"/>
              </a:rPr>
              <a:t>модуле</a:t>
            </a:r>
            <a:r>
              <a:rPr lang="en-US" sz="1800" dirty="0">
                <a:latin typeface="Besley"/>
                <a:ea typeface="Besley"/>
                <a:cs typeface="Besley"/>
                <a:sym typeface="Besley"/>
              </a:rPr>
              <a:t> 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dirty="0">
                <a:latin typeface="Besley"/>
                <a:ea typeface="Besley"/>
                <a:cs typeface="Besley"/>
                <a:sym typeface="Besley"/>
              </a:rPr>
              <a:t>"1С: </a:t>
            </a:r>
            <a:r>
              <a:rPr lang="en-US" sz="1800" dirty="0" err="1">
                <a:latin typeface="Besley"/>
                <a:ea typeface="Besley"/>
                <a:cs typeface="Besley"/>
                <a:sym typeface="Besley"/>
              </a:rPr>
              <a:t>Учет</a:t>
            </a:r>
            <a:r>
              <a:rPr lang="en-US" sz="1800" dirty="0">
                <a:latin typeface="Besley"/>
                <a:ea typeface="Besley"/>
                <a:cs typeface="Besley"/>
                <a:sym typeface="Besley"/>
              </a:rPr>
              <a:t> </a:t>
            </a:r>
            <a:r>
              <a:rPr lang="en-US" sz="1800" dirty="0" err="1">
                <a:latin typeface="Besley"/>
                <a:ea typeface="Besley"/>
                <a:cs typeface="Besley"/>
                <a:sym typeface="Besley"/>
              </a:rPr>
              <a:t>технологического</a:t>
            </a:r>
            <a:r>
              <a:rPr lang="en-US" sz="1800" dirty="0">
                <a:latin typeface="Besley"/>
                <a:ea typeface="Besley"/>
                <a:cs typeface="Besley"/>
                <a:sym typeface="Besley"/>
              </a:rPr>
              <a:t> </a:t>
            </a:r>
            <a:r>
              <a:rPr lang="en-US" sz="1800" dirty="0" err="1">
                <a:latin typeface="Besley"/>
                <a:ea typeface="Besley"/>
                <a:cs typeface="Besley"/>
                <a:sym typeface="Besley"/>
              </a:rPr>
              <a:t>присоединения</a:t>
            </a:r>
            <a:r>
              <a:rPr lang="en-US" sz="1800" dirty="0">
                <a:latin typeface="Besley"/>
                <a:ea typeface="Besley"/>
                <a:sym typeface="Besley"/>
              </a:rPr>
              <a:t>"</a:t>
            </a:r>
            <a:endParaRPr sz="1800" dirty="0">
              <a:latin typeface="Besley"/>
              <a:ea typeface="Besle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Google Shape;23;g3aee4da00ad_0_34"/>
          <p:cNvCxnSpPr/>
          <p:nvPr/>
        </p:nvCxnSpPr>
        <p:spPr>
          <a:xfrm>
            <a:off x="0" y="4749850"/>
            <a:ext cx="9144000" cy="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4" name="Google Shape;24;g3aee4da00ad_0_34"/>
          <p:cNvCxnSpPr/>
          <p:nvPr/>
        </p:nvCxnSpPr>
        <p:spPr>
          <a:xfrm>
            <a:off x="0" y="666750"/>
            <a:ext cx="9144000" cy="0"/>
          </a:xfrm>
          <a:prstGeom prst="straightConnector1">
            <a:avLst/>
          </a:prstGeom>
          <a:noFill/>
          <a:ln w="762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" name="Google Shape;25;g3aee4da00ad_0_34"/>
          <p:cNvSpPr/>
          <p:nvPr/>
        </p:nvSpPr>
        <p:spPr>
          <a:xfrm>
            <a:off x="1212292" y="191305"/>
            <a:ext cx="6719415" cy="36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7142"/>
              </a:lnSpc>
              <a:buSzPts val="2100"/>
            </a:pPr>
            <a:r>
              <a:rPr lang="ru-RU" sz="2100" dirty="0">
                <a:ea typeface="Besley"/>
              </a:rPr>
              <a:t>Тяжелая работа оператора</a:t>
            </a:r>
          </a:p>
        </p:txBody>
      </p:sp>
      <p:pic>
        <p:nvPicPr>
          <p:cNvPr id="26" name="Google Shape;26;g3aee4da00ad_0_34" title="вавы.png"/>
          <p:cNvPicPr preferRelativeResize="0"/>
          <p:nvPr/>
        </p:nvPicPr>
        <p:blipFill rotWithShape="1">
          <a:blip r:embed="rId3">
            <a:alphaModFix/>
          </a:blip>
          <a:srcRect t="8568" b="8560"/>
          <a:stretch/>
        </p:blipFill>
        <p:spPr>
          <a:xfrm>
            <a:off x="5434360" y="3828294"/>
            <a:ext cx="3290765" cy="6484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g3aee4da00ad_0_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14990" y="2242906"/>
            <a:ext cx="1597175" cy="1597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" name="Google Shape;30;g3aee4da00ad_0_34"/>
          <p:cNvCxnSpPr/>
          <p:nvPr/>
        </p:nvCxnSpPr>
        <p:spPr>
          <a:xfrm>
            <a:off x="3126480" y="3041493"/>
            <a:ext cx="31044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1" name="Google Shape;31;g3aee4da00ad_0_3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/>
              <a:t>2</a:t>
            </a:fld>
            <a:endParaRPr sz="1800" dirty="0"/>
          </a:p>
        </p:txBody>
      </p:sp>
      <p:sp>
        <p:nvSpPr>
          <p:cNvPr id="14" name="Speech Bubble: Rectangle with Corners Rounded 13">
            <a:extLst>
              <a:ext uri="{FF2B5EF4-FFF2-40B4-BE49-F238E27FC236}">
                <a16:creationId xmlns:a16="http://schemas.microsoft.com/office/drawing/2014/main" id="{83A720F0-6B19-4EA1-9E42-AB7EBAEE8193}"/>
              </a:ext>
            </a:extLst>
          </p:cNvPr>
          <p:cNvSpPr/>
          <p:nvPr/>
        </p:nvSpPr>
        <p:spPr>
          <a:xfrm>
            <a:off x="5434360" y="1057206"/>
            <a:ext cx="2523929" cy="940743"/>
          </a:xfrm>
          <a:prstGeom prst="wedgeRoundRectCallout">
            <a:avLst>
              <a:gd name="adj1" fmla="val 29102"/>
              <a:gd name="adj2" fmla="val 77162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800" dirty="0">
                <a:solidFill>
                  <a:srgbClr val="F7F8FC"/>
                </a:solidFill>
                <a:latin typeface="system-ui"/>
              </a:rPr>
              <a:t>Ручной по</a:t>
            </a:r>
            <a:r>
              <a:rPr lang="ru-RU" sz="1800" b="0" i="0" dirty="0">
                <a:solidFill>
                  <a:srgbClr val="F7F8FC"/>
                </a:solidFill>
                <a:effectLst/>
                <a:latin typeface="system-ui"/>
              </a:rPr>
              <a:t>иск в 20+ документах компании, подождите</a:t>
            </a:r>
            <a:endParaRPr lang="ru-RU" sz="1800" dirty="0"/>
          </a:p>
        </p:txBody>
      </p:sp>
      <p:sp>
        <p:nvSpPr>
          <p:cNvPr id="18" name="Google Shape;52;g3aee4da00ad_0_70">
            <a:extLst>
              <a:ext uri="{FF2B5EF4-FFF2-40B4-BE49-F238E27FC236}">
                <a16:creationId xmlns:a16="http://schemas.microsoft.com/office/drawing/2014/main" id="{7B0D710A-65C9-47CC-95C4-BCBF62F52AF4}"/>
              </a:ext>
            </a:extLst>
          </p:cNvPr>
          <p:cNvSpPr txBox="1"/>
          <p:nvPr/>
        </p:nvSpPr>
        <p:spPr>
          <a:xfrm>
            <a:off x="533087" y="4743372"/>
            <a:ext cx="829118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ТП – технологическое присоединение, услуга, оказываемая энергосбытовыми компаниями</a:t>
            </a:r>
            <a:endParaRPr dirty="0"/>
          </a:p>
        </p:txBody>
      </p:sp>
      <p:pic>
        <p:nvPicPr>
          <p:cNvPr id="15" name="Google Shape;29;g3aee4da00ad_0_34">
            <a:extLst>
              <a:ext uri="{FF2B5EF4-FFF2-40B4-BE49-F238E27FC236}">
                <a16:creationId xmlns:a16="http://schemas.microsoft.com/office/drawing/2014/main" id="{7C208A7F-2867-44F2-A22F-85D49EDC3B86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3915" y="2256346"/>
            <a:ext cx="1243400" cy="1447176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pic>
        <p:nvPicPr>
          <p:cNvPr id="16" name="Google Shape;29;g3aee4da00ad_0_34">
            <a:extLst>
              <a:ext uri="{FF2B5EF4-FFF2-40B4-BE49-F238E27FC236}">
                <a16:creationId xmlns:a16="http://schemas.microsoft.com/office/drawing/2014/main" id="{863F6C03-3B94-48D8-BECA-80E5C270588E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09682" y="2256346"/>
            <a:ext cx="1243400" cy="1447176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sp>
        <p:nvSpPr>
          <p:cNvPr id="17" name="Speech Bubble: Rectangle with Corners Rounded 16">
            <a:extLst>
              <a:ext uri="{FF2B5EF4-FFF2-40B4-BE49-F238E27FC236}">
                <a16:creationId xmlns:a16="http://schemas.microsoft.com/office/drawing/2014/main" id="{D3C0590C-DB46-416A-A9C7-01B0E0FB266E}"/>
              </a:ext>
            </a:extLst>
          </p:cNvPr>
          <p:cNvSpPr/>
          <p:nvPr/>
        </p:nvSpPr>
        <p:spPr>
          <a:xfrm>
            <a:off x="2665296" y="1001695"/>
            <a:ext cx="2312570" cy="1063939"/>
          </a:xfrm>
          <a:prstGeom prst="wedgeRoundRectCallout">
            <a:avLst>
              <a:gd name="adj1" fmla="val -52994"/>
              <a:gd name="adj2" fmla="val 7845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800" b="0" i="0" dirty="0">
                <a:solidFill>
                  <a:srgbClr val="F7F8FC"/>
                </a:solidFill>
                <a:effectLst/>
                <a:latin typeface="system-ui"/>
              </a:rPr>
              <a:t>Запро</a:t>
            </a:r>
            <a:r>
              <a:rPr lang="ru-RU" sz="1800" i="0" dirty="0">
                <a:solidFill>
                  <a:srgbClr val="F7F8FC"/>
                </a:solidFill>
                <a:effectLst/>
                <a:latin typeface="system-ui"/>
              </a:rPr>
              <a:t>с </a:t>
            </a:r>
            <a:r>
              <a:rPr lang="ru-RU" sz="1800" b="0" i="0" dirty="0">
                <a:solidFill>
                  <a:srgbClr val="F7F8FC"/>
                </a:solidFill>
                <a:effectLst/>
                <a:latin typeface="system-ui"/>
              </a:rPr>
              <a:t>по ТП (подключение, сроки, документы)</a:t>
            </a:r>
            <a:endParaRPr lang="ru-RU" sz="1800" dirty="0"/>
          </a:p>
        </p:txBody>
      </p:sp>
      <p:sp>
        <p:nvSpPr>
          <p:cNvPr id="19" name="Speech Bubble: Rectangle with Corners Rounded 18">
            <a:extLst>
              <a:ext uri="{FF2B5EF4-FFF2-40B4-BE49-F238E27FC236}">
                <a16:creationId xmlns:a16="http://schemas.microsoft.com/office/drawing/2014/main" id="{4F0EC147-C1AA-44B9-84BB-792D9804FE32}"/>
              </a:ext>
            </a:extLst>
          </p:cNvPr>
          <p:cNvSpPr/>
          <p:nvPr/>
        </p:nvSpPr>
        <p:spPr>
          <a:xfrm>
            <a:off x="1068304" y="1206678"/>
            <a:ext cx="1368745" cy="641798"/>
          </a:xfrm>
          <a:prstGeom prst="wedgeRoundRectCallout">
            <a:avLst>
              <a:gd name="adj1" fmla="val -26687"/>
              <a:gd name="adj2" fmla="val 108111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/>
              <a:t>…</a:t>
            </a:r>
            <a:r>
              <a:rPr lang="ru-RU" sz="1800" dirty="0"/>
              <a:t>...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Google Shape;37;g3af42bbb276_2_19"/>
          <p:cNvCxnSpPr/>
          <p:nvPr/>
        </p:nvCxnSpPr>
        <p:spPr>
          <a:xfrm>
            <a:off x="0" y="4749850"/>
            <a:ext cx="9144000" cy="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" name="Google Shape;38;g3af42bbb276_2_19"/>
          <p:cNvCxnSpPr/>
          <p:nvPr/>
        </p:nvCxnSpPr>
        <p:spPr>
          <a:xfrm>
            <a:off x="0" y="666750"/>
            <a:ext cx="9144000" cy="0"/>
          </a:xfrm>
          <a:prstGeom prst="straightConnector1">
            <a:avLst/>
          </a:prstGeom>
          <a:noFill/>
          <a:ln w="762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9" name="Google Shape;39;g3af42bbb276_2_19"/>
          <p:cNvSpPr/>
          <p:nvPr/>
        </p:nvSpPr>
        <p:spPr>
          <a:xfrm>
            <a:off x="903765" y="214823"/>
            <a:ext cx="761001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7142"/>
              </a:lnSpc>
              <a:buSzPts val="2100"/>
            </a:pPr>
            <a:r>
              <a:rPr lang="ru-RU" sz="2100" dirty="0">
                <a:ea typeface="Besley"/>
              </a:rPr>
              <a:t>Как сократить время ответа на вопросы клиента</a:t>
            </a:r>
            <a:r>
              <a:rPr lang="en-US" sz="2100" dirty="0">
                <a:ea typeface="Besley"/>
              </a:rPr>
              <a:t>?</a:t>
            </a:r>
            <a:endParaRPr lang="ru-RU" sz="2100" dirty="0">
              <a:ea typeface="Besley"/>
            </a:endParaRPr>
          </a:p>
        </p:txBody>
      </p:sp>
      <p:sp>
        <p:nvSpPr>
          <p:cNvPr id="42" name="Google Shape;42;g3af42bbb276_2_1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fld id="{00000000-1234-1234-1234-123412341234}" type="slidenum">
              <a:rPr lang="en-US" sz="1800"/>
              <a:pPr/>
              <a:t>3</a:t>
            </a:fld>
            <a:endParaRPr sz="1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15C841-3D18-4FEA-B337-26E8BFA4BC47}"/>
              </a:ext>
            </a:extLst>
          </p:cNvPr>
          <p:cNvSpPr txBox="1"/>
          <p:nvPr/>
        </p:nvSpPr>
        <p:spPr>
          <a:xfrm>
            <a:off x="1160460" y="3868431"/>
            <a:ext cx="28632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Ответы требуют ручного поиска</a:t>
            </a:r>
          </a:p>
          <a:p>
            <a:pPr algn="ctr"/>
            <a:r>
              <a:rPr lang="ru-RU" dirty="0"/>
              <a:t> до 15 минут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4F1691F-DD49-46AB-BF8C-9C044D0375A4}"/>
              </a:ext>
            </a:extLst>
          </p:cNvPr>
          <p:cNvSpPr txBox="1"/>
          <p:nvPr/>
        </p:nvSpPr>
        <p:spPr>
          <a:xfrm>
            <a:off x="5719950" y="3868431"/>
            <a:ext cx="23903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Дает ответ по документам</a:t>
            </a:r>
          </a:p>
          <a:p>
            <a:pPr algn="ctr"/>
            <a:r>
              <a:rPr lang="ru-RU" dirty="0"/>
              <a:t>до 2 минут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6DDAF91-0372-44E1-9C5B-75726A86A7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1159" y="1375258"/>
            <a:ext cx="2374022" cy="2374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Picture background">
            <a:extLst>
              <a:ext uri="{FF2B5EF4-FFF2-40B4-BE49-F238E27FC236}">
                <a16:creationId xmlns:a16="http://schemas.microsoft.com/office/drawing/2014/main" id="{7C6FA9B9-8FAF-4E45-9FC6-98880D8F23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0210" y="1117334"/>
            <a:ext cx="2849879" cy="2751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6" name="Google Shape;186;g3af42bbb276_1_0"/>
          <p:cNvCxnSpPr/>
          <p:nvPr/>
        </p:nvCxnSpPr>
        <p:spPr>
          <a:xfrm>
            <a:off x="0" y="4749850"/>
            <a:ext cx="9144000" cy="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7" name="Google Shape;187;g3af42bbb276_1_0"/>
          <p:cNvCxnSpPr/>
          <p:nvPr/>
        </p:nvCxnSpPr>
        <p:spPr>
          <a:xfrm>
            <a:off x="0" y="666750"/>
            <a:ext cx="9144000" cy="0"/>
          </a:xfrm>
          <a:prstGeom prst="straightConnector1">
            <a:avLst/>
          </a:prstGeom>
          <a:noFill/>
          <a:ln w="762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8" name="Google Shape;188;g3af42bbb276_1_0"/>
          <p:cNvSpPr/>
          <p:nvPr/>
        </p:nvSpPr>
        <p:spPr>
          <a:xfrm>
            <a:off x="2924175" y="190500"/>
            <a:ext cx="37575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Besley"/>
              <a:buNone/>
            </a:pPr>
            <a:r>
              <a:rPr lang="en-US" sz="2100" dirty="0" err="1">
                <a:latin typeface="Besley"/>
                <a:ea typeface="Besley"/>
                <a:cs typeface="Besley"/>
                <a:sym typeface="Besley"/>
              </a:rPr>
              <a:t>Постановка</a:t>
            </a:r>
            <a:r>
              <a:rPr lang="en-US" sz="2100" dirty="0">
                <a:latin typeface="Besley"/>
                <a:ea typeface="Besley"/>
                <a:cs typeface="Besley"/>
                <a:sym typeface="Besley"/>
              </a:rPr>
              <a:t> </a:t>
            </a:r>
            <a:r>
              <a:rPr lang="en-US" sz="2100" dirty="0" err="1">
                <a:latin typeface="Besley"/>
                <a:ea typeface="Besley"/>
                <a:cs typeface="Besley"/>
                <a:sym typeface="Besley"/>
              </a:rPr>
              <a:t>задачи</a:t>
            </a:r>
            <a:endParaRPr sz="2100" dirty="0">
              <a:latin typeface="Besley"/>
              <a:ea typeface="Besley"/>
              <a:cs typeface="Besley"/>
              <a:sym typeface="Besley"/>
            </a:endParaRPr>
          </a:p>
        </p:txBody>
      </p:sp>
      <p:sp>
        <p:nvSpPr>
          <p:cNvPr id="189" name="Google Shape;189;g3af42bbb276_1_0"/>
          <p:cNvSpPr txBox="1"/>
          <p:nvPr/>
        </p:nvSpPr>
        <p:spPr>
          <a:xfrm>
            <a:off x="508875" y="2027585"/>
            <a:ext cx="6553800" cy="2554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latin typeface="Besley"/>
                <a:ea typeface="Besley"/>
                <a:cs typeface="Besley"/>
                <a:sym typeface="Besley"/>
              </a:rPr>
              <a:t>Задачи</a:t>
            </a:r>
            <a:r>
              <a:rPr lang="en-US" dirty="0">
                <a:latin typeface="Besley"/>
                <a:ea typeface="Besley"/>
                <a:cs typeface="Besley"/>
                <a:sym typeface="Besley"/>
              </a:rPr>
              <a:t>:</a:t>
            </a:r>
            <a:endParaRPr dirty="0">
              <a:latin typeface="Besley"/>
              <a:ea typeface="Besley"/>
              <a:cs typeface="Besley"/>
              <a:sym typeface="Besley"/>
            </a:endParaRPr>
          </a:p>
          <a:p>
            <a:pPr marL="425450" lvl="0" indent="-285750" algn="l" rtl="0"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•"/>
            </a:pPr>
            <a:r>
              <a:rPr lang="ru-RU" dirty="0">
                <a:latin typeface="Besley"/>
                <a:ea typeface="Besley"/>
                <a:cs typeface="Besley"/>
                <a:sym typeface="Besley"/>
              </a:rPr>
              <a:t>архитектурное проектирование интеллектуального</a:t>
            </a:r>
            <a:r>
              <a:rPr lang="en-US" dirty="0">
                <a:latin typeface="Besley"/>
                <a:ea typeface="Besley"/>
                <a:cs typeface="Besley"/>
                <a:sym typeface="Besley"/>
              </a:rPr>
              <a:t> </a:t>
            </a:r>
            <a:r>
              <a:rPr lang="ru-RU" dirty="0">
                <a:latin typeface="Besley"/>
                <a:ea typeface="Besley"/>
                <a:cs typeface="Besley"/>
                <a:sym typeface="Besley"/>
              </a:rPr>
              <a:t>ассисстента</a:t>
            </a:r>
            <a:r>
              <a:rPr lang="en-US" dirty="0">
                <a:latin typeface="Besley"/>
                <a:ea typeface="Besley"/>
                <a:cs typeface="Besley"/>
                <a:sym typeface="Besley"/>
              </a:rPr>
              <a:t>;</a:t>
            </a:r>
            <a:endParaRPr lang="ru-RU" dirty="0">
              <a:latin typeface="Besley"/>
              <a:ea typeface="Besley"/>
              <a:cs typeface="Besley"/>
              <a:sym typeface="Besley"/>
            </a:endParaRPr>
          </a:p>
          <a:p>
            <a:pPr marL="425450" lvl="0" indent="-285750" algn="l" rtl="0"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•"/>
            </a:pPr>
            <a:r>
              <a:rPr lang="ru-RU" dirty="0">
                <a:latin typeface="Besley"/>
                <a:ea typeface="Besley"/>
                <a:cs typeface="Besley"/>
                <a:sym typeface="Besley"/>
              </a:rPr>
              <a:t>обработка нормативных документов компании в структурированную базу знаний с векторным представлением текста</a:t>
            </a:r>
            <a:r>
              <a:rPr lang="en-US" dirty="0">
                <a:latin typeface="Besley"/>
                <a:ea typeface="Besley"/>
                <a:cs typeface="Besley"/>
                <a:sym typeface="Besley"/>
              </a:rPr>
              <a:t>;</a:t>
            </a:r>
            <a:r>
              <a:rPr lang="ru-RU" dirty="0">
                <a:latin typeface="Besley"/>
                <a:ea typeface="Besley"/>
                <a:cs typeface="Besley"/>
                <a:sym typeface="Besley"/>
              </a:rPr>
              <a:t> </a:t>
            </a:r>
          </a:p>
          <a:p>
            <a:pPr marL="425450" lvl="0" indent="-285750" algn="l" rtl="0"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•"/>
            </a:pPr>
            <a:r>
              <a:rPr lang="ru-RU" dirty="0">
                <a:latin typeface="Besley"/>
                <a:ea typeface="Besley"/>
                <a:cs typeface="Besley"/>
                <a:sym typeface="Besley"/>
              </a:rPr>
              <a:t>построение модуля семантического поиска по нормативным документам</a:t>
            </a:r>
          </a:p>
          <a:p>
            <a:pPr marL="425450" lvl="0" indent="-285750" algn="l" rtl="0"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•"/>
            </a:pPr>
            <a:r>
              <a:rPr lang="ru-RU" dirty="0">
                <a:latin typeface="Besley"/>
                <a:ea typeface="Besley"/>
                <a:cs typeface="Besley"/>
                <a:sym typeface="Besley"/>
              </a:rPr>
              <a:t>построение модуля получения ответов на основе генеративного искусственого интеллекта</a:t>
            </a:r>
            <a:r>
              <a:rPr lang="en-US" dirty="0">
                <a:latin typeface="Besley"/>
                <a:ea typeface="Besley"/>
                <a:cs typeface="Besley"/>
                <a:sym typeface="Besley"/>
              </a:rPr>
              <a:t>;</a:t>
            </a:r>
            <a:endParaRPr lang="ru-RU" dirty="0">
              <a:latin typeface="Besley"/>
              <a:ea typeface="Besley"/>
              <a:cs typeface="Besley"/>
              <a:sym typeface="Besley"/>
            </a:endParaRPr>
          </a:p>
          <a:p>
            <a:pPr marL="425450" lvl="0" indent="-285750" algn="l" rtl="0"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•"/>
            </a:pPr>
            <a:r>
              <a:rPr lang="ru-RU" dirty="0">
                <a:latin typeface="Besley"/>
                <a:ea typeface="Besley"/>
                <a:cs typeface="Besley"/>
                <a:sym typeface="Besley"/>
              </a:rPr>
              <a:t>сбор компонент и модулей в единое программное средство</a:t>
            </a:r>
            <a:r>
              <a:rPr lang="en-US" dirty="0">
                <a:latin typeface="Besley"/>
                <a:ea typeface="Besley"/>
                <a:cs typeface="Besley"/>
                <a:sym typeface="Besley"/>
              </a:rPr>
              <a:t>;</a:t>
            </a:r>
            <a:endParaRPr lang="ru-RU" dirty="0">
              <a:latin typeface="Besley"/>
              <a:ea typeface="Besley"/>
              <a:cs typeface="Besley"/>
              <a:sym typeface="Besley"/>
            </a:endParaRPr>
          </a:p>
          <a:p>
            <a:pPr marL="425450" lvl="0" indent="-285750" algn="l" rtl="0"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•"/>
            </a:pPr>
            <a:r>
              <a:rPr lang="ru-RU" dirty="0">
                <a:latin typeface="Besley"/>
                <a:ea typeface="Besley"/>
                <a:cs typeface="Besley"/>
                <a:sym typeface="Besley"/>
              </a:rPr>
              <a:t>разработка календарного плана внедрения системы в эксплуатацию</a:t>
            </a:r>
            <a:r>
              <a:rPr lang="en-US" dirty="0">
                <a:latin typeface="Besley"/>
                <a:ea typeface="Besley"/>
                <a:cs typeface="Besley"/>
                <a:sym typeface="Besley"/>
              </a:rPr>
              <a:t>, </a:t>
            </a:r>
            <a:r>
              <a:rPr lang="ru-RU" dirty="0">
                <a:latin typeface="Besley"/>
                <a:ea typeface="Besley"/>
                <a:cs typeface="Besley"/>
                <a:sym typeface="Besley"/>
              </a:rPr>
              <a:t>согласованно с представителем компании.</a:t>
            </a:r>
          </a:p>
        </p:txBody>
      </p:sp>
      <p:pic>
        <p:nvPicPr>
          <p:cNvPr id="190" name="Google Shape;190;g3af42bbb276_1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85675" y="3427300"/>
            <a:ext cx="1049450" cy="104945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g3af42bbb276_1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sz="1800" dirty="0"/>
              <a:t>4</a:t>
            </a:r>
            <a:endParaRPr sz="1800" dirty="0"/>
          </a:p>
        </p:txBody>
      </p:sp>
      <p:sp>
        <p:nvSpPr>
          <p:cNvPr id="192" name="Google Shape;192;g3af42bbb276_1_0"/>
          <p:cNvSpPr txBox="1"/>
          <p:nvPr/>
        </p:nvSpPr>
        <p:spPr>
          <a:xfrm>
            <a:off x="508875" y="1063968"/>
            <a:ext cx="7302600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-US" dirty="0" err="1">
                <a:ea typeface="Besley" panose="020B0604020202020204" charset="0"/>
                <a:sym typeface="Besley"/>
              </a:rPr>
              <a:t>Цель</a:t>
            </a:r>
            <a:r>
              <a:rPr lang="en-US" dirty="0">
                <a:ea typeface="Besley" panose="020B0604020202020204" charset="0"/>
                <a:sym typeface="Besley"/>
              </a:rPr>
              <a:t>: </a:t>
            </a:r>
            <a:r>
              <a:rPr lang="ru-RU" dirty="0">
                <a:ea typeface="Besley" panose="020B0604020202020204" charset="0"/>
                <a:sym typeface="Besley"/>
              </a:rPr>
              <a:t>Сокращение времени обработки обращений потребителей услуги технологического присоединения </a:t>
            </a:r>
            <a:r>
              <a:rPr lang="ru-RU" dirty="0">
                <a:ea typeface="Besley" panose="020B0604020202020204" charset="0"/>
              </a:rPr>
              <a:t>за счет автоматизации обработки обращений на основе интеллектуального ассистента. </a:t>
            </a:r>
            <a:endParaRPr dirty="0">
              <a:latin typeface="Besley" panose="020B0604020202020204" charset="0"/>
              <a:ea typeface="Besley" panose="020B0604020202020204" charset="0"/>
              <a:sym typeface="Besley"/>
            </a:endParaRPr>
          </a:p>
        </p:txBody>
      </p:sp>
    </p:spTree>
    <p:extLst>
      <p:ext uri="{BB962C8B-B14F-4D97-AF65-F5344CB8AC3E}">
        <p14:creationId xmlns:p14="http://schemas.microsoft.com/office/powerpoint/2010/main" val="3167281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Google Shape;60;g3af42bbb276_2_31"/>
          <p:cNvCxnSpPr/>
          <p:nvPr/>
        </p:nvCxnSpPr>
        <p:spPr>
          <a:xfrm>
            <a:off x="0" y="666750"/>
            <a:ext cx="9144000" cy="0"/>
          </a:xfrm>
          <a:prstGeom prst="straightConnector1">
            <a:avLst/>
          </a:prstGeom>
          <a:noFill/>
          <a:ln w="762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1" name="Google Shape;61;g3af42bbb276_2_31"/>
          <p:cNvSpPr/>
          <p:nvPr/>
        </p:nvSpPr>
        <p:spPr>
          <a:xfrm>
            <a:off x="569043" y="184045"/>
            <a:ext cx="7876557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Besley"/>
              <a:buNone/>
            </a:pPr>
            <a:r>
              <a:rPr lang="ru-RU" sz="2100" dirty="0">
                <a:ea typeface="Besley"/>
              </a:rPr>
              <a:t>Почему нельзя использовать готовое ПО(надо доработать)</a:t>
            </a:r>
            <a:endParaRPr sz="2100" dirty="0">
              <a:latin typeface="Besley"/>
              <a:ea typeface="Besley"/>
              <a:sym typeface="Calibri"/>
            </a:endParaRPr>
          </a:p>
        </p:txBody>
      </p:sp>
      <p:sp>
        <p:nvSpPr>
          <p:cNvPr id="62" name="Google Shape;62;g3af42bbb276_2_3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fld id="{00000000-1234-1234-1234-123412341234}" type="slidenum">
              <a:rPr lang="en-US" sz="1800"/>
              <a:pPr/>
              <a:t>5</a:t>
            </a:fld>
            <a:endParaRPr sz="1800" dirty="0"/>
          </a:p>
        </p:txBody>
      </p:sp>
      <p:cxnSp>
        <p:nvCxnSpPr>
          <p:cNvPr id="64" name="Google Shape;64;g3af42bbb276_2_31"/>
          <p:cNvCxnSpPr/>
          <p:nvPr/>
        </p:nvCxnSpPr>
        <p:spPr>
          <a:xfrm>
            <a:off x="0" y="4749850"/>
            <a:ext cx="9144000" cy="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5391FCD9-DC6F-423B-B926-7452F997AC78}"/>
              </a:ext>
            </a:extLst>
          </p:cNvPr>
          <p:cNvSpPr txBox="1"/>
          <p:nvPr/>
        </p:nvSpPr>
        <p:spPr>
          <a:xfrm>
            <a:off x="936000" y="883640"/>
            <a:ext cx="3636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Сравнительная таблица аналогов: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5C05F29-E1B3-4994-9C80-514C3D6A30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1189530"/>
              </p:ext>
            </p:extLst>
          </p:nvPr>
        </p:nvGraphicFramePr>
        <p:xfrm>
          <a:off x="1642953" y="1335104"/>
          <a:ext cx="5858093" cy="3273564"/>
        </p:xfrm>
        <a:graphic>
          <a:graphicData uri="http://schemas.openxmlformats.org/drawingml/2006/table">
            <a:tbl>
              <a:tblPr firstRow="1" firstCol="1" bandRow="1">
                <a:tableStyleId>{5E6319E6-CE38-47E1-913C-5F39980A6936}</a:tableStyleId>
              </a:tblPr>
              <a:tblGrid>
                <a:gridCol w="1542910">
                  <a:extLst>
                    <a:ext uri="{9D8B030D-6E8A-4147-A177-3AD203B41FA5}">
                      <a16:colId xmlns:a16="http://schemas.microsoft.com/office/drawing/2014/main" val="3887052546"/>
                    </a:ext>
                  </a:extLst>
                </a:gridCol>
                <a:gridCol w="1469256">
                  <a:extLst>
                    <a:ext uri="{9D8B030D-6E8A-4147-A177-3AD203B41FA5}">
                      <a16:colId xmlns:a16="http://schemas.microsoft.com/office/drawing/2014/main" val="3203169931"/>
                    </a:ext>
                  </a:extLst>
                </a:gridCol>
                <a:gridCol w="1401434">
                  <a:extLst>
                    <a:ext uri="{9D8B030D-6E8A-4147-A177-3AD203B41FA5}">
                      <a16:colId xmlns:a16="http://schemas.microsoft.com/office/drawing/2014/main" val="2262065247"/>
                    </a:ext>
                  </a:extLst>
                </a:gridCol>
                <a:gridCol w="1444493">
                  <a:extLst>
                    <a:ext uri="{9D8B030D-6E8A-4147-A177-3AD203B41FA5}">
                      <a16:colId xmlns:a16="http://schemas.microsoft.com/office/drawing/2014/main" val="3824099516"/>
                    </a:ext>
                  </a:extLst>
                </a:gridCol>
              </a:tblGrid>
              <a:tr h="521050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12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Признак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38100" marB="3810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12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Разработываемое ПО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38100" marB="3810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12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Облачный RAG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38100" marB="3810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12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Правило-боты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38100" marB="3810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188330"/>
                  </a:ext>
                </a:extLst>
              </a:tr>
              <a:tr h="521050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Локальное развёртывание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38100" marB="381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38100" marB="381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38100" marB="381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38100" marB="381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605004"/>
                  </a:ext>
                </a:extLst>
              </a:tr>
              <a:tr h="521050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Семантический поиск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38100" marB="381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38100" marB="381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38100" marB="381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38100" marB="381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447796"/>
                  </a:ext>
                </a:extLst>
              </a:tr>
              <a:tr h="426377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Генерация ответов с цитатами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38100" marB="381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38100" marB="381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38100" marB="381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38100" marB="381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2105455"/>
                  </a:ext>
                </a:extLst>
              </a:tr>
              <a:tr h="521050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Контроль над данными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38100" marB="381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38100" marB="381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38100" marB="381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38100" marB="381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4141751"/>
                  </a:ext>
                </a:extLst>
              </a:tr>
              <a:tr h="410909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Стоимость эксплуатации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38100" marB="381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38100" marB="381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38100" marB="381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38100" marB="381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3223325"/>
                  </a:ext>
                </a:extLst>
              </a:tr>
              <a:tr h="305444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Свободный диалог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38100" marB="381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38100" marB="381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38100" marB="381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38100" marB="381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5567058"/>
                  </a:ext>
                </a:extLst>
              </a:tr>
            </a:tbl>
          </a:graphicData>
        </a:graphic>
      </p:graphicFrame>
      <p:sp>
        <p:nvSpPr>
          <p:cNvPr id="5" name="Plus Sign 4">
            <a:extLst>
              <a:ext uri="{FF2B5EF4-FFF2-40B4-BE49-F238E27FC236}">
                <a16:creationId xmlns:a16="http://schemas.microsoft.com/office/drawing/2014/main" id="{8911B96C-5003-41A5-8A6D-8EF98F351463}"/>
              </a:ext>
            </a:extLst>
          </p:cNvPr>
          <p:cNvSpPr/>
          <p:nvPr/>
        </p:nvSpPr>
        <p:spPr>
          <a:xfrm flipH="1" flipV="1">
            <a:off x="3829353" y="2014614"/>
            <a:ext cx="252000" cy="259066"/>
          </a:xfrm>
          <a:prstGeom prst="mathPlus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" name="Plus Sign 11">
            <a:extLst>
              <a:ext uri="{FF2B5EF4-FFF2-40B4-BE49-F238E27FC236}">
                <a16:creationId xmlns:a16="http://schemas.microsoft.com/office/drawing/2014/main" id="{06EF7C26-3DF5-45D0-A52E-6B5D840F2F2E}"/>
              </a:ext>
            </a:extLst>
          </p:cNvPr>
          <p:cNvSpPr/>
          <p:nvPr/>
        </p:nvSpPr>
        <p:spPr>
          <a:xfrm flipH="1" flipV="1">
            <a:off x="3841353" y="2499465"/>
            <a:ext cx="252000" cy="259066"/>
          </a:xfrm>
          <a:prstGeom prst="mathPlus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Plus Sign 12">
            <a:extLst>
              <a:ext uri="{FF2B5EF4-FFF2-40B4-BE49-F238E27FC236}">
                <a16:creationId xmlns:a16="http://schemas.microsoft.com/office/drawing/2014/main" id="{BD456E3C-EE27-435F-BD05-1C55938D2092}"/>
              </a:ext>
            </a:extLst>
          </p:cNvPr>
          <p:cNvSpPr/>
          <p:nvPr/>
        </p:nvSpPr>
        <p:spPr>
          <a:xfrm flipH="1" flipV="1">
            <a:off x="3841353" y="3016989"/>
            <a:ext cx="252000" cy="259066"/>
          </a:xfrm>
          <a:prstGeom prst="mathPlus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Plus Sign 13">
            <a:extLst>
              <a:ext uri="{FF2B5EF4-FFF2-40B4-BE49-F238E27FC236}">
                <a16:creationId xmlns:a16="http://schemas.microsoft.com/office/drawing/2014/main" id="{F57C84F6-3442-4051-A3F4-AAD6EB902626}"/>
              </a:ext>
            </a:extLst>
          </p:cNvPr>
          <p:cNvSpPr/>
          <p:nvPr/>
        </p:nvSpPr>
        <p:spPr>
          <a:xfrm flipH="1" flipV="1">
            <a:off x="5231873" y="2506761"/>
            <a:ext cx="252000" cy="259066"/>
          </a:xfrm>
          <a:prstGeom prst="mathPlus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Plus Sign 14">
            <a:extLst>
              <a:ext uri="{FF2B5EF4-FFF2-40B4-BE49-F238E27FC236}">
                <a16:creationId xmlns:a16="http://schemas.microsoft.com/office/drawing/2014/main" id="{5ADAA2F6-ADB9-4A60-8010-900A2EB366B6}"/>
              </a:ext>
            </a:extLst>
          </p:cNvPr>
          <p:cNvSpPr/>
          <p:nvPr/>
        </p:nvSpPr>
        <p:spPr>
          <a:xfrm flipH="1" flipV="1">
            <a:off x="5231873" y="3024285"/>
            <a:ext cx="252000" cy="259066"/>
          </a:xfrm>
          <a:prstGeom prst="mathPlus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" name="Plus Sign 15">
            <a:extLst>
              <a:ext uri="{FF2B5EF4-FFF2-40B4-BE49-F238E27FC236}">
                <a16:creationId xmlns:a16="http://schemas.microsoft.com/office/drawing/2014/main" id="{919FC41F-9257-4498-AAEE-EE9E90DEBB56}"/>
              </a:ext>
            </a:extLst>
          </p:cNvPr>
          <p:cNvSpPr/>
          <p:nvPr/>
        </p:nvSpPr>
        <p:spPr>
          <a:xfrm flipH="1" flipV="1">
            <a:off x="6633905" y="2014614"/>
            <a:ext cx="252000" cy="259066"/>
          </a:xfrm>
          <a:prstGeom prst="mathPlus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Plus Sign 16">
            <a:extLst>
              <a:ext uri="{FF2B5EF4-FFF2-40B4-BE49-F238E27FC236}">
                <a16:creationId xmlns:a16="http://schemas.microsoft.com/office/drawing/2014/main" id="{2A74C83F-A66F-4B79-A520-C5700B54C34C}"/>
              </a:ext>
            </a:extLst>
          </p:cNvPr>
          <p:cNvSpPr/>
          <p:nvPr/>
        </p:nvSpPr>
        <p:spPr>
          <a:xfrm flipH="1" flipV="1">
            <a:off x="6633905" y="3525388"/>
            <a:ext cx="252000" cy="259066"/>
          </a:xfrm>
          <a:prstGeom prst="mathPlus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" name="Plus Sign 17">
            <a:extLst>
              <a:ext uri="{FF2B5EF4-FFF2-40B4-BE49-F238E27FC236}">
                <a16:creationId xmlns:a16="http://schemas.microsoft.com/office/drawing/2014/main" id="{0B6BB534-BC7A-4CF4-8F7A-AA20ABA728AA}"/>
              </a:ext>
            </a:extLst>
          </p:cNvPr>
          <p:cNvSpPr/>
          <p:nvPr/>
        </p:nvSpPr>
        <p:spPr>
          <a:xfrm flipH="1" flipV="1">
            <a:off x="3841353" y="3481257"/>
            <a:ext cx="252000" cy="259066"/>
          </a:xfrm>
          <a:prstGeom prst="mathPlus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Plus Sign 18">
            <a:extLst>
              <a:ext uri="{FF2B5EF4-FFF2-40B4-BE49-F238E27FC236}">
                <a16:creationId xmlns:a16="http://schemas.microsoft.com/office/drawing/2014/main" id="{DE441F77-EE7A-4811-BEE1-20BE2821B022}"/>
              </a:ext>
            </a:extLst>
          </p:cNvPr>
          <p:cNvSpPr/>
          <p:nvPr/>
        </p:nvSpPr>
        <p:spPr>
          <a:xfrm flipH="1" flipV="1">
            <a:off x="3829353" y="3968507"/>
            <a:ext cx="252000" cy="259066"/>
          </a:xfrm>
          <a:prstGeom prst="mathPlus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" name="Plus Sign 19">
            <a:extLst>
              <a:ext uri="{FF2B5EF4-FFF2-40B4-BE49-F238E27FC236}">
                <a16:creationId xmlns:a16="http://schemas.microsoft.com/office/drawing/2014/main" id="{04BE186A-BAD4-43E3-A2B6-B730E35D4EE2}"/>
              </a:ext>
            </a:extLst>
          </p:cNvPr>
          <p:cNvSpPr/>
          <p:nvPr/>
        </p:nvSpPr>
        <p:spPr>
          <a:xfrm flipH="1" flipV="1">
            <a:off x="6633905" y="4012638"/>
            <a:ext cx="252000" cy="259066"/>
          </a:xfrm>
          <a:prstGeom prst="mathPlus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1" name="Plus Sign 20">
            <a:extLst>
              <a:ext uri="{FF2B5EF4-FFF2-40B4-BE49-F238E27FC236}">
                <a16:creationId xmlns:a16="http://schemas.microsoft.com/office/drawing/2014/main" id="{833ED77D-F5E2-4550-980D-A98F55DC1A8C}"/>
              </a:ext>
            </a:extLst>
          </p:cNvPr>
          <p:cNvSpPr/>
          <p:nvPr/>
        </p:nvSpPr>
        <p:spPr>
          <a:xfrm flipH="1" flipV="1">
            <a:off x="3849753" y="4349298"/>
            <a:ext cx="252000" cy="259066"/>
          </a:xfrm>
          <a:prstGeom prst="mathPlus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2" name="Plus Sign 21">
            <a:extLst>
              <a:ext uri="{FF2B5EF4-FFF2-40B4-BE49-F238E27FC236}">
                <a16:creationId xmlns:a16="http://schemas.microsoft.com/office/drawing/2014/main" id="{5B385249-8B48-4C00-8E55-67C27F7FA66B}"/>
              </a:ext>
            </a:extLst>
          </p:cNvPr>
          <p:cNvSpPr/>
          <p:nvPr/>
        </p:nvSpPr>
        <p:spPr>
          <a:xfrm flipH="1" flipV="1">
            <a:off x="5231629" y="4319379"/>
            <a:ext cx="252000" cy="259066"/>
          </a:xfrm>
          <a:prstGeom prst="mathPlus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Minus Sign 5">
            <a:extLst>
              <a:ext uri="{FF2B5EF4-FFF2-40B4-BE49-F238E27FC236}">
                <a16:creationId xmlns:a16="http://schemas.microsoft.com/office/drawing/2014/main" id="{2E089499-2F0A-4BF2-8D26-47569E6EA496}"/>
              </a:ext>
            </a:extLst>
          </p:cNvPr>
          <p:cNvSpPr/>
          <p:nvPr/>
        </p:nvSpPr>
        <p:spPr>
          <a:xfrm>
            <a:off x="6633905" y="2481299"/>
            <a:ext cx="252000" cy="357419"/>
          </a:xfrm>
          <a:prstGeom prst="mathMinus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Minus Sign 23">
            <a:extLst>
              <a:ext uri="{FF2B5EF4-FFF2-40B4-BE49-F238E27FC236}">
                <a16:creationId xmlns:a16="http://schemas.microsoft.com/office/drawing/2014/main" id="{CA547743-473E-482C-88D5-ADB29E9ECD35}"/>
              </a:ext>
            </a:extLst>
          </p:cNvPr>
          <p:cNvSpPr/>
          <p:nvPr/>
        </p:nvSpPr>
        <p:spPr>
          <a:xfrm>
            <a:off x="5231629" y="1970483"/>
            <a:ext cx="252000" cy="357419"/>
          </a:xfrm>
          <a:prstGeom prst="mathMinus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Minus Sign 24">
            <a:extLst>
              <a:ext uri="{FF2B5EF4-FFF2-40B4-BE49-F238E27FC236}">
                <a16:creationId xmlns:a16="http://schemas.microsoft.com/office/drawing/2014/main" id="{B0E3B4ED-A27F-4C1A-A8BC-53B588A51AAF}"/>
              </a:ext>
            </a:extLst>
          </p:cNvPr>
          <p:cNvSpPr/>
          <p:nvPr/>
        </p:nvSpPr>
        <p:spPr>
          <a:xfrm>
            <a:off x="5231629" y="3439376"/>
            <a:ext cx="252000" cy="357419"/>
          </a:xfrm>
          <a:prstGeom prst="mathMinus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Minus Sign 25">
            <a:extLst>
              <a:ext uri="{FF2B5EF4-FFF2-40B4-BE49-F238E27FC236}">
                <a16:creationId xmlns:a16="http://schemas.microsoft.com/office/drawing/2014/main" id="{D886347B-F184-408F-B20D-B7A35EAF2BCD}"/>
              </a:ext>
            </a:extLst>
          </p:cNvPr>
          <p:cNvSpPr/>
          <p:nvPr/>
        </p:nvSpPr>
        <p:spPr>
          <a:xfrm>
            <a:off x="5231629" y="3926626"/>
            <a:ext cx="252000" cy="357419"/>
          </a:xfrm>
          <a:prstGeom prst="mathMinus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Minus Sign 26">
            <a:extLst>
              <a:ext uri="{FF2B5EF4-FFF2-40B4-BE49-F238E27FC236}">
                <a16:creationId xmlns:a16="http://schemas.microsoft.com/office/drawing/2014/main" id="{7113EE11-246E-495D-AEDC-503651F8F1D6}"/>
              </a:ext>
            </a:extLst>
          </p:cNvPr>
          <p:cNvSpPr/>
          <p:nvPr/>
        </p:nvSpPr>
        <p:spPr>
          <a:xfrm>
            <a:off x="6640210" y="4276181"/>
            <a:ext cx="252000" cy="357419"/>
          </a:xfrm>
          <a:prstGeom prst="mathMinus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Minus Sign 27">
            <a:extLst>
              <a:ext uri="{FF2B5EF4-FFF2-40B4-BE49-F238E27FC236}">
                <a16:creationId xmlns:a16="http://schemas.microsoft.com/office/drawing/2014/main" id="{097BFB2D-1CA3-4053-9006-87064290551B}"/>
              </a:ext>
            </a:extLst>
          </p:cNvPr>
          <p:cNvSpPr/>
          <p:nvPr/>
        </p:nvSpPr>
        <p:spPr>
          <a:xfrm>
            <a:off x="6633905" y="3024031"/>
            <a:ext cx="252000" cy="357419"/>
          </a:xfrm>
          <a:prstGeom prst="mathMinus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" name="Google Shape;92;p6"/>
          <p:cNvCxnSpPr/>
          <p:nvPr/>
        </p:nvCxnSpPr>
        <p:spPr>
          <a:xfrm>
            <a:off x="0" y="666750"/>
            <a:ext cx="9144000" cy="0"/>
          </a:xfrm>
          <a:prstGeom prst="straightConnector1">
            <a:avLst/>
          </a:prstGeom>
          <a:noFill/>
          <a:ln w="762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3" name="Google Shape;93;p6"/>
          <p:cNvCxnSpPr/>
          <p:nvPr/>
        </p:nvCxnSpPr>
        <p:spPr>
          <a:xfrm>
            <a:off x="0" y="4771550"/>
            <a:ext cx="9144000" cy="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4" name="Google Shape;94;p6"/>
          <p:cNvSpPr/>
          <p:nvPr/>
        </p:nvSpPr>
        <p:spPr>
          <a:xfrm>
            <a:off x="2478750" y="228999"/>
            <a:ext cx="4897698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ru-RU" sz="2100" dirty="0">
                <a:ea typeface="Besley"/>
              </a:rPr>
              <a:t>Функциональная модель ассистента</a:t>
            </a:r>
          </a:p>
        </p:txBody>
      </p:sp>
      <p:sp>
        <p:nvSpPr>
          <p:cNvPr id="96" name="Google Shape;96;p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fld id="{00000000-1234-1234-1234-123412341234}" type="slidenum">
              <a:rPr lang="en-US" sz="1800"/>
              <a:pPr marL="0" lvl="0" indent="0"/>
              <a:t>6</a:t>
            </a:fld>
            <a:endParaRPr sz="18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3322C57-D860-4D71-B314-883EEB9BBE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400" y="915040"/>
            <a:ext cx="5865750" cy="3794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" name="Google Shape;92;p6"/>
          <p:cNvCxnSpPr/>
          <p:nvPr/>
        </p:nvCxnSpPr>
        <p:spPr>
          <a:xfrm>
            <a:off x="0" y="666750"/>
            <a:ext cx="9144000" cy="0"/>
          </a:xfrm>
          <a:prstGeom prst="straightConnector1">
            <a:avLst/>
          </a:prstGeom>
          <a:noFill/>
          <a:ln w="762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3" name="Google Shape;93;p6"/>
          <p:cNvCxnSpPr/>
          <p:nvPr/>
        </p:nvCxnSpPr>
        <p:spPr>
          <a:xfrm>
            <a:off x="0" y="4771550"/>
            <a:ext cx="9144000" cy="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4" name="Google Shape;94;p6"/>
          <p:cNvSpPr/>
          <p:nvPr/>
        </p:nvSpPr>
        <p:spPr>
          <a:xfrm>
            <a:off x="1415660" y="152405"/>
            <a:ext cx="6432939" cy="413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ru-RU" sz="2100" dirty="0">
                <a:ea typeface="Besley"/>
              </a:rPr>
              <a:t>Модуль генерация ответов с источниками</a:t>
            </a:r>
          </a:p>
        </p:txBody>
      </p:sp>
      <p:sp>
        <p:nvSpPr>
          <p:cNvPr id="96" name="Google Shape;96;p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fld id="{00000000-1234-1234-1234-123412341234}" type="slidenum">
              <a:rPr lang="en-US" sz="1800"/>
              <a:pPr marL="0" lvl="0" indent="0"/>
              <a:t>7</a:t>
            </a:fld>
            <a:endParaRPr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90008B-45A0-484D-9D02-1AA2A0C5A0D1}"/>
              </a:ext>
            </a:extLst>
          </p:cNvPr>
          <p:cNvSpPr txBox="1"/>
          <p:nvPr/>
        </p:nvSpPr>
        <p:spPr>
          <a:xfrm flipH="1">
            <a:off x="533398" y="4793250"/>
            <a:ext cx="43942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БЯМ – Большая Языковая Модель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81BF24-399A-42E4-B20C-FF75CB70A1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783" y="860462"/>
            <a:ext cx="8116433" cy="3867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6589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4" name="Google Shape;104;p5"/>
          <p:cNvCxnSpPr/>
          <p:nvPr/>
        </p:nvCxnSpPr>
        <p:spPr>
          <a:xfrm>
            <a:off x="0" y="666750"/>
            <a:ext cx="9144000" cy="0"/>
          </a:xfrm>
          <a:prstGeom prst="straightConnector1">
            <a:avLst/>
          </a:prstGeom>
          <a:noFill/>
          <a:ln w="762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5" name="Google Shape;105;p5"/>
          <p:cNvCxnSpPr/>
          <p:nvPr/>
        </p:nvCxnSpPr>
        <p:spPr>
          <a:xfrm>
            <a:off x="0" y="4819650"/>
            <a:ext cx="9144000" cy="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6" name="Google Shape;106;p5"/>
          <p:cNvSpPr/>
          <p:nvPr/>
        </p:nvSpPr>
        <p:spPr>
          <a:xfrm>
            <a:off x="2116343" y="221567"/>
            <a:ext cx="4911313" cy="3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7142"/>
              </a:lnSpc>
              <a:buSzPts val="2100"/>
            </a:pPr>
            <a:r>
              <a:rPr lang="ru-RU" sz="2100" dirty="0">
                <a:ea typeface="Besley"/>
              </a:rPr>
              <a:t>Гибридный поиск и ранжирование</a:t>
            </a:r>
          </a:p>
        </p:txBody>
      </p:sp>
      <p:sp>
        <p:nvSpPr>
          <p:cNvPr id="107" name="Google Shape;107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fld id="{00000000-1234-1234-1234-123412341234}" type="slidenum">
              <a:rPr lang="en-US" sz="1800"/>
              <a:pPr marL="0" lvl="0" indent="0"/>
              <a:t>8</a:t>
            </a:fld>
            <a:endParaRPr sz="18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3ED7899-85FF-4FCE-9095-F7CCBA4A39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6880" y="1019043"/>
            <a:ext cx="5934320" cy="3615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0677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4" name="Google Shape;104;p5"/>
          <p:cNvCxnSpPr/>
          <p:nvPr/>
        </p:nvCxnSpPr>
        <p:spPr>
          <a:xfrm>
            <a:off x="0" y="666750"/>
            <a:ext cx="9144000" cy="0"/>
          </a:xfrm>
          <a:prstGeom prst="straightConnector1">
            <a:avLst/>
          </a:prstGeom>
          <a:noFill/>
          <a:ln w="762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5" name="Google Shape;105;p5"/>
          <p:cNvCxnSpPr/>
          <p:nvPr/>
        </p:nvCxnSpPr>
        <p:spPr>
          <a:xfrm>
            <a:off x="0" y="4819650"/>
            <a:ext cx="9144000" cy="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6" name="Google Shape;106;p5"/>
          <p:cNvSpPr/>
          <p:nvPr/>
        </p:nvSpPr>
        <p:spPr>
          <a:xfrm>
            <a:off x="1579943" y="201596"/>
            <a:ext cx="5984113" cy="3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>
              <a:lnSpc>
                <a:spcPct val="107142"/>
              </a:lnSpc>
              <a:buSzPts val="2100"/>
              <a:buFont typeface="Arial"/>
              <a:buNone/>
            </a:pPr>
            <a:r>
              <a:rPr lang="ru-RU" sz="2100" dirty="0">
                <a:ea typeface="Besley"/>
                <a:sym typeface="Besley"/>
              </a:rPr>
              <a:t>Логическая модель векторной БД(надо доработать, у меня 3 вектора на одну точку)</a:t>
            </a:r>
            <a:endParaRPr sz="2100" dirty="0">
              <a:ea typeface="Besley"/>
              <a:sym typeface="Besley"/>
            </a:endParaRPr>
          </a:p>
        </p:txBody>
      </p:sp>
      <p:sp>
        <p:nvSpPr>
          <p:cNvPr id="107" name="Google Shape;107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/>
              <a:t>9</a:t>
            </a:fld>
            <a:endParaRPr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35CF25-8A8A-4342-BE89-4E8BBFA5B0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111" y="892059"/>
            <a:ext cx="4757490" cy="3857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064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" name="Google Shape;92;p6"/>
          <p:cNvCxnSpPr/>
          <p:nvPr/>
        </p:nvCxnSpPr>
        <p:spPr>
          <a:xfrm>
            <a:off x="0" y="666750"/>
            <a:ext cx="9144000" cy="0"/>
          </a:xfrm>
          <a:prstGeom prst="straightConnector1">
            <a:avLst/>
          </a:prstGeom>
          <a:noFill/>
          <a:ln w="762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3" name="Google Shape;93;p6"/>
          <p:cNvCxnSpPr/>
          <p:nvPr/>
        </p:nvCxnSpPr>
        <p:spPr>
          <a:xfrm>
            <a:off x="0" y="4771550"/>
            <a:ext cx="9144000" cy="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4" name="Google Shape;94;p6"/>
          <p:cNvSpPr/>
          <p:nvPr/>
        </p:nvSpPr>
        <p:spPr>
          <a:xfrm>
            <a:off x="1187895" y="218409"/>
            <a:ext cx="676821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ru-RU" sz="1800" dirty="0">
                <a:ea typeface="Besley"/>
              </a:rPr>
              <a:t>Автоматическая обработка и структурирование документов  </a:t>
            </a:r>
          </a:p>
        </p:txBody>
      </p:sp>
      <p:sp>
        <p:nvSpPr>
          <p:cNvPr id="96" name="Google Shape;96;p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/>
              <a:t>10</a:t>
            </a:fld>
            <a:endParaRPr sz="1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8D1553F-ADB6-4E23-911F-33A05B9B5B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98" y="1815438"/>
            <a:ext cx="9072001" cy="2279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2408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4" name="Google Shape;104;p5"/>
          <p:cNvCxnSpPr/>
          <p:nvPr/>
        </p:nvCxnSpPr>
        <p:spPr>
          <a:xfrm>
            <a:off x="0" y="666750"/>
            <a:ext cx="9144000" cy="0"/>
          </a:xfrm>
          <a:prstGeom prst="straightConnector1">
            <a:avLst/>
          </a:prstGeom>
          <a:noFill/>
          <a:ln w="762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5" name="Google Shape;105;p5"/>
          <p:cNvCxnSpPr/>
          <p:nvPr/>
        </p:nvCxnSpPr>
        <p:spPr>
          <a:xfrm>
            <a:off x="0" y="4819650"/>
            <a:ext cx="9144000" cy="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7" name="Google Shape;107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/>
              <a:t>11</a:t>
            </a:fld>
            <a:endParaRPr sz="1800" dirty="0"/>
          </a:p>
        </p:txBody>
      </p:sp>
      <p:sp>
        <p:nvSpPr>
          <p:cNvPr id="6" name="Google Shape;106;p5">
            <a:extLst>
              <a:ext uri="{FF2B5EF4-FFF2-40B4-BE49-F238E27FC236}">
                <a16:creationId xmlns:a16="http://schemas.microsoft.com/office/drawing/2014/main" id="{042867E4-E9CB-42CD-A709-44CC87D26E50}"/>
              </a:ext>
            </a:extLst>
          </p:cNvPr>
          <p:cNvSpPr/>
          <p:nvPr/>
        </p:nvSpPr>
        <p:spPr>
          <a:xfrm>
            <a:off x="1778303" y="166700"/>
            <a:ext cx="5587393" cy="3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7142"/>
              </a:lnSpc>
              <a:buSzPts val="2100"/>
            </a:pPr>
            <a:r>
              <a:rPr lang="en-US" sz="2100" dirty="0">
                <a:ea typeface="Besley"/>
              </a:rPr>
              <a:t>UML- </a:t>
            </a:r>
            <a:r>
              <a:rPr lang="ru-RU" sz="2100" dirty="0">
                <a:ea typeface="Besley"/>
              </a:rPr>
              <a:t>диаграмма классов </a:t>
            </a:r>
            <a:r>
              <a:rPr lang="en-US" sz="2100" dirty="0">
                <a:ea typeface="Besley"/>
              </a:rPr>
              <a:t>web-</a:t>
            </a:r>
            <a:r>
              <a:rPr lang="ru-RU" sz="2100" dirty="0">
                <a:ea typeface="Besley"/>
              </a:rPr>
              <a:t>приложения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7D533A-97F8-47B9-876E-33BD2CA126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3680" y="810566"/>
            <a:ext cx="5955824" cy="3939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5159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4" name="Google Shape;104;p5"/>
          <p:cNvCxnSpPr/>
          <p:nvPr/>
        </p:nvCxnSpPr>
        <p:spPr>
          <a:xfrm>
            <a:off x="0" y="666750"/>
            <a:ext cx="9144000" cy="0"/>
          </a:xfrm>
          <a:prstGeom prst="straightConnector1">
            <a:avLst/>
          </a:prstGeom>
          <a:noFill/>
          <a:ln w="762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5" name="Google Shape;105;p5"/>
          <p:cNvCxnSpPr/>
          <p:nvPr/>
        </p:nvCxnSpPr>
        <p:spPr>
          <a:xfrm>
            <a:off x="0" y="4819650"/>
            <a:ext cx="9144000" cy="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6" name="Google Shape;106;p5"/>
          <p:cNvSpPr/>
          <p:nvPr/>
        </p:nvSpPr>
        <p:spPr>
          <a:xfrm>
            <a:off x="2134343" y="172901"/>
            <a:ext cx="4875313" cy="3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>
              <a:lnSpc>
                <a:spcPct val="107142"/>
              </a:lnSpc>
              <a:buSzPts val="2100"/>
              <a:buFont typeface="Arial"/>
              <a:buNone/>
            </a:pPr>
            <a:r>
              <a:rPr lang="ru-RU" sz="2100" dirty="0">
                <a:ea typeface="Besley"/>
                <a:sym typeface="Besley"/>
              </a:rPr>
              <a:t>Логическая модель реляционной БД</a:t>
            </a:r>
            <a:endParaRPr sz="2100" dirty="0">
              <a:ea typeface="Besley"/>
              <a:sym typeface="Besley"/>
            </a:endParaRPr>
          </a:p>
        </p:txBody>
      </p:sp>
      <p:sp>
        <p:nvSpPr>
          <p:cNvPr id="107" name="Google Shape;107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/>
              <a:t>12</a:t>
            </a:fld>
            <a:endParaRPr sz="1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ACA7CF-2E14-4DEA-BBA6-A65F4A063C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800" y="795456"/>
            <a:ext cx="7564684" cy="3931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4982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4" name="Google Shape;104;p5"/>
          <p:cNvCxnSpPr/>
          <p:nvPr/>
        </p:nvCxnSpPr>
        <p:spPr>
          <a:xfrm>
            <a:off x="0" y="666750"/>
            <a:ext cx="9144000" cy="0"/>
          </a:xfrm>
          <a:prstGeom prst="straightConnector1">
            <a:avLst/>
          </a:prstGeom>
          <a:noFill/>
          <a:ln w="762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6" name="Google Shape;106;p5"/>
          <p:cNvSpPr/>
          <p:nvPr/>
        </p:nvSpPr>
        <p:spPr>
          <a:xfrm>
            <a:off x="2367887" y="137988"/>
            <a:ext cx="4408225" cy="3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7142"/>
              </a:lnSpc>
              <a:buSzPts val="2100"/>
            </a:pPr>
            <a:r>
              <a:rPr lang="ru-RU" sz="2100" dirty="0">
                <a:ea typeface="Besley"/>
              </a:rPr>
              <a:t> Интерфейс ассистента</a:t>
            </a:r>
          </a:p>
        </p:txBody>
      </p:sp>
      <p:sp>
        <p:nvSpPr>
          <p:cNvPr id="107" name="Google Shape;107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/>
              <a:t>13</a:t>
            </a:fld>
            <a:endParaRPr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33C0F1-CEFA-4510-8532-C861C00DBA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697" y="851563"/>
            <a:ext cx="8652603" cy="3988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5285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4" name="Google Shape;104;p5"/>
          <p:cNvCxnSpPr/>
          <p:nvPr/>
        </p:nvCxnSpPr>
        <p:spPr>
          <a:xfrm>
            <a:off x="0" y="666750"/>
            <a:ext cx="9144000" cy="0"/>
          </a:xfrm>
          <a:prstGeom prst="straightConnector1">
            <a:avLst/>
          </a:prstGeom>
          <a:noFill/>
          <a:ln w="762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5" name="Google Shape;105;p5"/>
          <p:cNvCxnSpPr/>
          <p:nvPr/>
        </p:nvCxnSpPr>
        <p:spPr>
          <a:xfrm>
            <a:off x="0" y="4819650"/>
            <a:ext cx="9144000" cy="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6" name="Google Shape;106;p5"/>
          <p:cNvSpPr/>
          <p:nvPr/>
        </p:nvSpPr>
        <p:spPr>
          <a:xfrm>
            <a:off x="2367887" y="147599"/>
            <a:ext cx="4408225" cy="3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7142"/>
              </a:lnSpc>
              <a:buSzPts val="2100"/>
            </a:pPr>
            <a:r>
              <a:rPr lang="ru-RU" sz="2100" dirty="0">
                <a:ea typeface="Besley"/>
              </a:rPr>
              <a:t>История диалогов</a:t>
            </a:r>
          </a:p>
        </p:txBody>
      </p:sp>
      <p:sp>
        <p:nvSpPr>
          <p:cNvPr id="107" name="Google Shape;107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/>
              <a:t>14</a:t>
            </a:fld>
            <a:endParaRPr sz="1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C4FDF8-657C-421B-BBF9-F08E4646A5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676" y="797203"/>
            <a:ext cx="7994206" cy="395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9221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5" name="Google Shape;115;p10"/>
          <p:cNvCxnSpPr/>
          <p:nvPr/>
        </p:nvCxnSpPr>
        <p:spPr>
          <a:xfrm>
            <a:off x="0" y="666750"/>
            <a:ext cx="9144000" cy="0"/>
          </a:xfrm>
          <a:prstGeom prst="straightConnector1">
            <a:avLst/>
          </a:prstGeom>
          <a:noFill/>
          <a:ln w="762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6" name="Google Shape;116;p10"/>
          <p:cNvSpPr/>
          <p:nvPr/>
        </p:nvSpPr>
        <p:spPr>
          <a:xfrm>
            <a:off x="1490574" y="179632"/>
            <a:ext cx="580095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>
              <a:lnSpc>
                <a:spcPct val="107142"/>
              </a:lnSpc>
              <a:buSzPts val="2100"/>
              <a:buFont typeface="Arial"/>
              <a:buNone/>
            </a:pPr>
            <a:r>
              <a:rPr lang="en-US" sz="2100" dirty="0" err="1">
                <a:ea typeface="Besley"/>
                <a:sym typeface="Besley"/>
              </a:rPr>
              <a:t>Инструментальные</a:t>
            </a:r>
            <a:r>
              <a:rPr lang="en-US" sz="2100" dirty="0">
                <a:ea typeface="Besley"/>
                <a:sym typeface="Besley"/>
              </a:rPr>
              <a:t> </a:t>
            </a:r>
            <a:r>
              <a:rPr lang="en-US" sz="2100" dirty="0" err="1">
                <a:ea typeface="Besley"/>
                <a:sym typeface="Besley"/>
              </a:rPr>
              <a:t>средства</a:t>
            </a:r>
            <a:r>
              <a:rPr lang="en-US" sz="2100" dirty="0">
                <a:ea typeface="Besley"/>
                <a:sym typeface="Besley"/>
              </a:rPr>
              <a:t> </a:t>
            </a:r>
            <a:r>
              <a:rPr lang="en-US" sz="2100" dirty="0" err="1">
                <a:ea typeface="Besley"/>
                <a:sym typeface="Besley"/>
              </a:rPr>
              <a:t>разработки</a:t>
            </a:r>
            <a:endParaRPr sz="2100" dirty="0">
              <a:ea typeface="Besley"/>
              <a:sym typeface="Besley"/>
            </a:endParaRPr>
          </a:p>
        </p:txBody>
      </p:sp>
      <p:sp>
        <p:nvSpPr>
          <p:cNvPr id="117" name="Google Shape;117;p10"/>
          <p:cNvSpPr/>
          <p:nvPr/>
        </p:nvSpPr>
        <p:spPr>
          <a:xfrm>
            <a:off x="1656352" y="1670683"/>
            <a:ext cx="1749601" cy="7437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err="1">
                <a:solidFill>
                  <a:schemeClr val="dk1"/>
                </a:solidFill>
                <a:latin typeface="Besley"/>
                <a:ea typeface="Besley"/>
                <a:cs typeface="Besley"/>
                <a:sym typeface="Besley"/>
              </a:rPr>
              <a:t>Разработка</a:t>
            </a:r>
            <a:endParaRPr sz="1600" dirty="0">
              <a:solidFill>
                <a:schemeClr val="dk1"/>
              </a:solidFill>
              <a:latin typeface="Besley"/>
              <a:ea typeface="Besley"/>
              <a:cs typeface="Besley"/>
              <a:sym typeface="Besley"/>
            </a:endParaRPr>
          </a:p>
        </p:txBody>
      </p:sp>
      <p:sp>
        <p:nvSpPr>
          <p:cNvPr id="118" name="Google Shape;118;p10"/>
          <p:cNvSpPr/>
          <p:nvPr/>
        </p:nvSpPr>
        <p:spPr>
          <a:xfrm>
            <a:off x="6393600" y="4090925"/>
            <a:ext cx="2529650" cy="6486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err="1">
                <a:solidFill>
                  <a:schemeClr val="dk1"/>
                </a:solidFill>
                <a:latin typeface="Besley"/>
                <a:ea typeface="Besley"/>
                <a:cs typeface="Besley"/>
                <a:sym typeface="Besley"/>
              </a:rPr>
              <a:t>Проектирование</a:t>
            </a:r>
            <a:endParaRPr dirty="0"/>
          </a:p>
        </p:txBody>
      </p:sp>
      <p:pic>
        <p:nvPicPr>
          <p:cNvPr id="119" name="Google Shape;11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8194" y="3431931"/>
            <a:ext cx="1479030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3447" y="3021875"/>
            <a:ext cx="1891433" cy="43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69386" y="863868"/>
            <a:ext cx="1659270" cy="5107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6" name="Google Shape;126;p10"/>
          <p:cNvCxnSpPr>
            <a:cxnSpLocks/>
            <a:stCxn id="117" idx="2"/>
            <a:endCxn id="15" idx="3"/>
          </p:cNvCxnSpPr>
          <p:nvPr/>
        </p:nvCxnSpPr>
        <p:spPr>
          <a:xfrm flipH="1" flipV="1">
            <a:off x="1195264" y="2033014"/>
            <a:ext cx="461088" cy="951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7" name="Google Shape;127;p10"/>
          <p:cNvCxnSpPr>
            <a:cxnSpLocks/>
            <a:stCxn id="117" idx="7"/>
            <a:endCxn id="123" idx="2"/>
          </p:cNvCxnSpPr>
          <p:nvPr/>
        </p:nvCxnSpPr>
        <p:spPr>
          <a:xfrm flipV="1">
            <a:off x="3149730" y="1374618"/>
            <a:ext cx="549291" cy="404977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9" name="Google Shape;129;p10"/>
          <p:cNvSpPr/>
          <p:nvPr/>
        </p:nvSpPr>
        <p:spPr>
          <a:xfrm>
            <a:off x="6804415" y="1035895"/>
            <a:ext cx="1947250" cy="7437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err="1">
                <a:solidFill>
                  <a:schemeClr val="dk1"/>
                </a:solidFill>
                <a:latin typeface="Besley"/>
                <a:ea typeface="Besley"/>
                <a:cs typeface="Besley"/>
                <a:sym typeface="Besley"/>
              </a:rPr>
              <a:t>Управление</a:t>
            </a:r>
            <a:r>
              <a:rPr lang="en-US" sz="1600" dirty="0">
                <a:solidFill>
                  <a:schemeClr val="dk1"/>
                </a:solidFill>
                <a:latin typeface="Besley"/>
                <a:ea typeface="Besley"/>
                <a:cs typeface="Besley"/>
                <a:sym typeface="Besley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Besley"/>
                <a:ea typeface="Besley"/>
                <a:cs typeface="Besley"/>
                <a:sym typeface="Besley"/>
              </a:rPr>
              <a:t>моделями</a:t>
            </a:r>
            <a:endParaRPr dirty="0"/>
          </a:p>
        </p:txBody>
      </p:sp>
      <p:cxnSp>
        <p:nvCxnSpPr>
          <p:cNvPr id="130" name="Google Shape;130;p10"/>
          <p:cNvCxnSpPr>
            <a:cxnSpLocks/>
            <a:stCxn id="117" idx="6"/>
            <a:endCxn id="1026" idx="1"/>
          </p:cNvCxnSpPr>
          <p:nvPr/>
        </p:nvCxnSpPr>
        <p:spPr>
          <a:xfrm flipV="1">
            <a:off x="3405953" y="2037773"/>
            <a:ext cx="553055" cy="476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1" name="Google Shape;131;p10"/>
          <p:cNvCxnSpPr>
            <a:cxnSpLocks/>
            <a:stCxn id="129" idx="4"/>
            <a:endCxn id="6" idx="0"/>
          </p:cNvCxnSpPr>
          <p:nvPr/>
        </p:nvCxnSpPr>
        <p:spPr>
          <a:xfrm>
            <a:off x="7778040" y="1779595"/>
            <a:ext cx="0" cy="31102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3" name="Google Shape;133;p10"/>
          <p:cNvCxnSpPr>
            <a:cxnSpLocks/>
            <a:stCxn id="118" idx="1"/>
            <a:endCxn id="30" idx="3"/>
          </p:cNvCxnSpPr>
          <p:nvPr/>
        </p:nvCxnSpPr>
        <p:spPr>
          <a:xfrm flipH="1" flipV="1">
            <a:off x="6347251" y="3656693"/>
            <a:ext cx="416808" cy="529217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4" name="Google Shape;134;p10"/>
          <p:cNvCxnSpPr>
            <a:cxnSpLocks/>
            <a:stCxn id="117" idx="3"/>
            <a:endCxn id="121" idx="0"/>
          </p:cNvCxnSpPr>
          <p:nvPr/>
        </p:nvCxnSpPr>
        <p:spPr>
          <a:xfrm flipH="1">
            <a:off x="1119164" y="2305471"/>
            <a:ext cx="793411" cy="71640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5" name="Google Shape;135;p10"/>
          <p:cNvCxnSpPr>
            <a:cxnSpLocks/>
            <a:stCxn id="117" idx="4"/>
            <a:endCxn id="119" idx="0"/>
          </p:cNvCxnSpPr>
          <p:nvPr/>
        </p:nvCxnSpPr>
        <p:spPr>
          <a:xfrm>
            <a:off x="2531153" y="2414383"/>
            <a:ext cx="236556" cy="101754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6" name="Google Shape;136;p1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/>
              <a:t>15</a:t>
            </a:fld>
            <a:endParaRPr sz="1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969EB6-2B97-466A-9BF6-2FBC6C52EB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15907" y="2090620"/>
            <a:ext cx="1724266" cy="638264"/>
          </a:xfrm>
          <a:prstGeom prst="rect">
            <a:avLst/>
          </a:prstGeom>
        </p:spPr>
      </p:pic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77B4A79F-1BF8-431E-8FAA-A789694F31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9008" y="1665923"/>
            <a:ext cx="1322133" cy="743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460C4EA-CE1E-44D2-8F67-A6B1C3AC07D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631" y="1784015"/>
            <a:ext cx="1122633" cy="497997"/>
          </a:xfrm>
          <a:prstGeom prst="rect">
            <a:avLst/>
          </a:prstGeom>
        </p:spPr>
      </p:pic>
      <p:sp>
        <p:nvSpPr>
          <p:cNvPr id="24" name="AutoShape 14" descr="Picture background">
            <a:extLst>
              <a:ext uri="{FF2B5EF4-FFF2-40B4-BE49-F238E27FC236}">
                <a16:creationId xmlns:a16="http://schemas.microsoft.com/office/drawing/2014/main" id="{EEE4743B-95E8-4DBF-90F7-E06E1C81279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5" name="AutoShape 16" descr="Picture background">
            <a:extLst>
              <a:ext uri="{FF2B5EF4-FFF2-40B4-BE49-F238E27FC236}">
                <a16:creationId xmlns:a16="http://schemas.microsoft.com/office/drawing/2014/main" id="{7B471C1D-DB20-400C-BC61-4A7D05D17D1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87591" y="482247"/>
            <a:ext cx="6786654" cy="6786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A78DB5A8-D668-4076-BFAA-BC21C2F99EF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06319" y="3160440"/>
            <a:ext cx="740932" cy="99250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ABAA7F05-44A4-483C-BF90-E3C2B19AA75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8552" y="929059"/>
            <a:ext cx="1286811" cy="492931"/>
          </a:xfrm>
          <a:prstGeom prst="rect">
            <a:avLst/>
          </a:prstGeom>
        </p:spPr>
      </p:pic>
      <p:cxnSp>
        <p:nvCxnSpPr>
          <p:cNvPr id="62" name="Google Shape;127;p10">
            <a:extLst>
              <a:ext uri="{FF2B5EF4-FFF2-40B4-BE49-F238E27FC236}">
                <a16:creationId xmlns:a16="http://schemas.microsoft.com/office/drawing/2014/main" id="{B5BCC9D4-F26A-4850-B758-B97D646BB4E2}"/>
              </a:ext>
            </a:extLst>
          </p:cNvPr>
          <p:cNvCxnSpPr>
            <a:cxnSpLocks/>
            <a:stCxn id="117" idx="1"/>
            <a:endCxn id="34" idx="2"/>
          </p:cNvCxnSpPr>
          <p:nvPr/>
        </p:nvCxnSpPr>
        <p:spPr>
          <a:xfrm flipH="1" flipV="1">
            <a:off x="1381958" y="1421990"/>
            <a:ext cx="530617" cy="35760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39" name="Picture 38">
            <a:extLst>
              <a:ext uri="{FF2B5EF4-FFF2-40B4-BE49-F238E27FC236}">
                <a16:creationId xmlns:a16="http://schemas.microsoft.com/office/drawing/2014/main" id="{7B87CA51-5CA6-4328-BED0-690E6FF1ED4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56279" y="2833710"/>
            <a:ext cx="1403649" cy="376330"/>
          </a:xfrm>
          <a:prstGeom prst="rect">
            <a:avLst/>
          </a:prstGeom>
        </p:spPr>
      </p:pic>
      <p:cxnSp>
        <p:nvCxnSpPr>
          <p:cNvPr id="90" name="Google Shape;130;p10">
            <a:extLst>
              <a:ext uri="{FF2B5EF4-FFF2-40B4-BE49-F238E27FC236}">
                <a16:creationId xmlns:a16="http://schemas.microsoft.com/office/drawing/2014/main" id="{DDDC7084-7E68-4AA2-BB82-80B93BCA5AF9}"/>
              </a:ext>
            </a:extLst>
          </p:cNvPr>
          <p:cNvCxnSpPr>
            <a:cxnSpLocks/>
            <a:stCxn id="117" idx="5"/>
            <a:endCxn id="39" idx="0"/>
          </p:cNvCxnSpPr>
          <p:nvPr/>
        </p:nvCxnSpPr>
        <p:spPr>
          <a:xfrm>
            <a:off x="3149730" y="2305471"/>
            <a:ext cx="608374" cy="52823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6" name="Google Shape;186;g3af42bbb276_1_0"/>
          <p:cNvCxnSpPr/>
          <p:nvPr/>
        </p:nvCxnSpPr>
        <p:spPr>
          <a:xfrm>
            <a:off x="0" y="4749850"/>
            <a:ext cx="9144000" cy="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7" name="Google Shape;187;g3af42bbb276_1_0"/>
          <p:cNvCxnSpPr/>
          <p:nvPr/>
        </p:nvCxnSpPr>
        <p:spPr>
          <a:xfrm>
            <a:off x="0" y="666750"/>
            <a:ext cx="9144000" cy="0"/>
          </a:xfrm>
          <a:prstGeom prst="straightConnector1">
            <a:avLst/>
          </a:prstGeom>
          <a:noFill/>
          <a:ln w="762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8" name="Google Shape;188;g3af42bbb276_1_0"/>
          <p:cNvSpPr/>
          <p:nvPr/>
        </p:nvSpPr>
        <p:spPr>
          <a:xfrm>
            <a:off x="2924175" y="190500"/>
            <a:ext cx="37575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>
              <a:lnSpc>
                <a:spcPct val="107142"/>
              </a:lnSpc>
              <a:buSzPts val="2100"/>
              <a:buFont typeface="Arial"/>
              <a:buNone/>
            </a:pPr>
            <a:r>
              <a:rPr lang="ru-RU" sz="2100" dirty="0">
                <a:ea typeface="Besley"/>
                <a:sym typeface="Besley"/>
              </a:rPr>
              <a:t>Основные результаты</a:t>
            </a:r>
          </a:p>
        </p:txBody>
      </p:sp>
      <p:sp>
        <p:nvSpPr>
          <p:cNvPr id="189" name="Google Shape;189;g3af42bbb276_1_0"/>
          <p:cNvSpPr txBox="1"/>
          <p:nvPr/>
        </p:nvSpPr>
        <p:spPr>
          <a:xfrm>
            <a:off x="688450" y="1132970"/>
            <a:ext cx="6785150" cy="2769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Besley"/>
                <a:ea typeface="Besley"/>
                <a:cs typeface="Besley"/>
                <a:sym typeface="Besley"/>
              </a:rPr>
              <a:t> </a:t>
            </a:r>
          </a:p>
          <a:p>
            <a:pPr marL="4254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•"/>
            </a:pPr>
            <a:r>
              <a:rPr lang="ru-RU" dirty="0"/>
              <a:t>Применение разработанного решения сокращает среднее время обработки типового запроса с 15 минут до 2 минут. </a:t>
            </a:r>
          </a:p>
          <a:p>
            <a:pPr marL="4254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•"/>
            </a:pPr>
            <a:r>
              <a:rPr lang="ru-RU" dirty="0"/>
              <a:t>Нагрузка на операторов колл-центра снижена на 40%. </a:t>
            </a:r>
          </a:p>
          <a:p>
            <a:pPr marL="4254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•"/>
            </a:pPr>
            <a:r>
              <a:rPr lang="ru-RU" dirty="0"/>
              <a:t>Обеспечена круглосуточная доступность консультационной поддержки.</a:t>
            </a:r>
          </a:p>
          <a:p>
            <a:pPr marL="4254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•"/>
            </a:pPr>
            <a:r>
              <a:rPr lang="ru-RU" dirty="0"/>
              <a:t>Системой осуществляется поиск ответов в нормативных документах и базе часто задаваемых вопросов, формируются юридически корректные ответы (91% точность) с указанием источника информации</a:t>
            </a:r>
            <a:endParaRPr lang="ru-RU" dirty="0">
              <a:latin typeface="Besley"/>
              <a:ea typeface="Besley"/>
              <a:cs typeface="Besley"/>
              <a:sym typeface="Besley"/>
            </a:endParaRPr>
          </a:p>
        </p:txBody>
      </p:sp>
      <p:pic>
        <p:nvPicPr>
          <p:cNvPr id="190" name="Google Shape;190;g3af42bbb276_1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07334" y="3567590"/>
            <a:ext cx="1049450" cy="104945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g3af42bbb276_1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ru-RU" sz="1800" dirty="0"/>
              <a:t>16</a:t>
            </a:r>
            <a:endParaRPr sz="1800" dirty="0"/>
          </a:p>
        </p:txBody>
      </p:sp>
      <p:pic>
        <p:nvPicPr>
          <p:cNvPr id="9" name="Google Shape;276;g3af87f21906_2_1">
            <a:extLst>
              <a:ext uri="{FF2B5EF4-FFF2-40B4-BE49-F238E27FC236}">
                <a16:creationId xmlns:a16="http://schemas.microsoft.com/office/drawing/2014/main" id="{C76E1DEC-E218-4A87-9969-53529E35BD0D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8450" y="3911070"/>
            <a:ext cx="772375" cy="7723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140474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4" name="Google Shape;104;p5"/>
          <p:cNvCxnSpPr/>
          <p:nvPr/>
        </p:nvCxnSpPr>
        <p:spPr>
          <a:xfrm>
            <a:off x="0" y="666750"/>
            <a:ext cx="9144000" cy="0"/>
          </a:xfrm>
          <a:prstGeom prst="straightConnector1">
            <a:avLst/>
          </a:prstGeom>
          <a:noFill/>
          <a:ln w="762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5" name="Google Shape;105;p5"/>
          <p:cNvCxnSpPr/>
          <p:nvPr/>
        </p:nvCxnSpPr>
        <p:spPr>
          <a:xfrm>
            <a:off x="0" y="4819650"/>
            <a:ext cx="9144000" cy="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6" name="Google Shape;106;p5"/>
          <p:cNvSpPr/>
          <p:nvPr/>
        </p:nvSpPr>
        <p:spPr>
          <a:xfrm>
            <a:off x="1074371" y="166700"/>
            <a:ext cx="6995257" cy="3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7142"/>
              </a:lnSpc>
              <a:buSzPts val="2100"/>
            </a:pPr>
            <a:r>
              <a:rPr lang="ru-RU" sz="2100" dirty="0">
                <a:ea typeface="Besley"/>
              </a:rPr>
              <a:t>Техническое задание и акт внедрения(не настоящие)</a:t>
            </a:r>
          </a:p>
        </p:txBody>
      </p:sp>
      <p:sp>
        <p:nvSpPr>
          <p:cNvPr id="107" name="Google Shape;107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fld id="{00000000-1234-1234-1234-123412341234}" type="slidenum">
              <a:rPr lang="en-US" sz="1800"/>
              <a:pPr marL="0" lvl="0" indent="0"/>
              <a:t>17</a:t>
            </a:fld>
            <a:endParaRPr sz="1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99FF311-498C-4033-8F20-928BE33B3C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1282" y="796201"/>
            <a:ext cx="2748346" cy="389399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D7EFB0B-4DE2-4D9C-A56B-6DD27FE19D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278" y="794415"/>
            <a:ext cx="2657321" cy="3753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2815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af42bbb276_2_0"/>
          <p:cNvSpPr/>
          <p:nvPr/>
        </p:nvSpPr>
        <p:spPr>
          <a:xfrm>
            <a:off x="2297850" y="2405100"/>
            <a:ext cx="45483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>
              <a:lnSpc>
                <a:spcPct val="107142"/>
              </a:lnSpc>
              <a:buSzPts val="2100"/>
              <a:buFont typeface="Arial"/>
              <a:buNone/>
            </a:pPr>
            <a:r>
              <a:rPr lang="en-US" sz="2100" dirty="0">
                <a:ea typeface="Besley"/>
                <a:sym typeface="Besley"/>
              </a:rPr>
              <a:t>СПАСИБО ЗА ВНИМАНИЕ !</a:t>
            </a:r>
            <a:endParaRPr sz="2100" dirty="0">
              <a:ea typeface="Besley"/>
              <a:sym typeface="Calibri"/>
            </a:endParaRPr>
          </a:p>
        </p:txBody>
      </p:sp>
      <p:sp>
        <p:nvSpPr>
          <p:cNvPr id="284" name="Google Shape;284;g3af42bbb276_2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sz="1800" dirty="0"/>
              <a:t>1</a:t>
            </a:r>
            <a:r>
              <a:rPr lang="ru-RU" sz="1800" dirty="0"/>
              <a:t>8</a:t>
            </a:r>
            <a:endParaRPr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1216</TotalTime>
  <Words>736</Words>
  <Application>Microsoft Office PowerPoint</Application>
  <PresentationFormat>On-screen Show (16:9)</PresentationFormat>
  <Paragraphs>127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system-ui</vt:lpstr>
      <vt:lpstr>Arial</vt:lpstr>
      <vt:lpstr>Times New Roman</vt:lpstr>
      <vt:lpstr>Besley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PptxGenJS</dc:creator>
  <cp:lastModifiedBy>алмаз сабитов</cp:lastModifiedBy>
  <cp:revision>75</cp:revision>
  <dcterms:created xsi:type="dcterms:W3CDTF">2025-10-08T17:29:51Z</dcterms:created>
  <dcterms:modified xsi:type="dcterms:W3CDTF">2026-04-09T10:55:47Z</dcterms:modified>
</cp:coreProperties>
</file>