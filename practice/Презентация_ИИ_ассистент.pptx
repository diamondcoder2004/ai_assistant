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image" Target="../media/image-9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image" Target="../media/image-16-6.png"/><Relationship Id="rId7" Type="http://schemas.openxmlformats.org/officeDocument/2006/relationships/image" Target="../media/image-16-7.png"/><Relationship Id="rId8" Type="http://schemas.openxmlformats.org/officeDocument/2006/relationships/image" Target="../media/image-16-8.png"/><Relationship Id="rId9" Type="http://schemas.openxmlformats.org/officeDocument/2006/relationships/image" Target="../media/image-16-9.png"/><Relationship Id="rId10" Type="http://schemas.openxmlformats.org/officeDocument/2006/relationships/image" Target="../media/image-16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28090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14400" y="2103120"/>
            <a:ext cx="1828800" cy="54864"/>
          </a:xfrm>
          <a:prstGeom prst="rect">
            <a:avLst/>
          </a:prstGeom>
          <a:solidFill>
            <a:srgbClr val="02C39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548640"/>
            <a:ext cx="914400" cy="914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16459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ИИ-ассистент по технологическому присоединению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914400" y="237744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F0FD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Автоматизация поддержки клиентов Башкирэнерго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F0FD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 использованием RAG-архитектуры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914400" y="43891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Разработчик: Алмаз Сабитов  • 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D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Актуальность работы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5029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Энергетическая отрасль сталкивается с растущим потоком обращений клиентов по вопросам технологического присоединения. Традиционные методы поддержки не справляются с объемом запросов, что приводит к увеличению времени ожидания и снижению качества обслуживания.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743200"/>
            <a:ext cx="50292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2743200"/>
            <a:ext cx="54864" cy="6400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7889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1000+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22960" y="30632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Обращений в месяц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3520440"/>
            <a:ext cx="50292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3520440"/>
            <a:ext cx="54864" cy="6400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5661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822960" y="38404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Повторяющихся вопросов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4297680"/>
            <a:ext cx="50292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48640" y="4297680"/>
            <a:ext cx="54864" cy="6400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43434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24/7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822960" y="46177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Режим работы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943600" y="1097280"/>
            <a:ext cx="2743200" cy="3200400"/>
          </a:xfrm>
          <a:prstGeom prst="rect">
            <a:avLst/>
          </a:prstGeom>
          <a:solidFill>
            <a:srgbClr val="028090">
              <a:alpha val="10000"/>
            </a:srgbClr>
          </a:solidFill>
          <a:ln/>
        </p:spPr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2011680"/>
            <a:ext cx="914400" cy="91440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6217920" y="310896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Рост цифровизации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энергетического сектора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D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Проблема заказчика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804672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298448"/>
            <a:ext cx="320040" cy="320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88720" y="123444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Высокая нагрузка на операторов колл-центра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1874520"/>
            <a:ext cx="804672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984248"/>
            <a:ext cx="320040" cy="3200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88720" y="192024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Длительное время ожидания ответа клиента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548640" y="2560320"/>
            <a:ext cx="804672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670048"/>
            <a:ext cx="320040" cy="32004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188720" y="260604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Необходимость поиска информации в нормативных документах</a:t>
            </a:r>
            <a:endParaRPr lang="en-US" sz="1400" dirty="0"/>
          </a:p>
        </p:txBody>
      </p:sp>
      <p:sp>
        <p:nvSpPr>
          <p:cNvPr id="13" name="Shape 8"/>
          <p:cNvSpPr/>
          <p:nvPr/>
        </p:nvSpPr>
        <p:spPr>
          <a:xfrm>
            <a:off x="548640" y="3246120"/>
            <a:ext cx="804672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355848"/>
            <a:ext cx="320040" cy="32004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188720" y="329184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Отсутствие единой базы знаний по технологическому присоединению</a:t>
            </a:r>
            <a:endParaRPr lang="en-US" sz="1400" dirty="0"/>
          </a:p>
        </p:txBody>
      </p:sp>
      <p:sp>
        <p:nvSpPr>
          <p:cNvPr id="16" name="Shape 10"/>
          <p:cNvSpPr/>
          <p:nvPr/>
        </p:nvSpPr>
        <p:spPr>
          <a:xfrm>
            <a:off x="548640" y="3931920"/>
            <a:ext cx="804672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4041648"/>
            <a:ext cx="320040" cy="32004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188720" y="397764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Сложность навигации по нормативно-правовым актам</a:t>
            </a:r>
            <a:endParaRPr lang="en-US" sz="1400" dirty="0"/>
          </a:p>
        </p:txBody>
      </p:sp>
      <p:sp>
        <p:nvSpPr>
          <p:cNvPr id="19" name="Shape 12"/>
          <p:cNvSpPr/>
          <p:nvPr/>
        </p:nvSpPr>
        <p:spPr>
          <a:xfrm>
            <a:off x="548640" y="4572000"/>
            <a:ext cx="8046720" cy="365760"/>
          </a:xfrm>
          <a:prstGeom prst="rect">
            <a:avLst/>
          </a:prstGeom>
          <a:solidFill>
            <a:srgbClr val="F59E0B">
              <a:alpha val="20000"/>
            </a:srgbClr>
          </a:solidFill>
          <a:ln/>
        </p:spPr>
      </p:sp>
      <p:sp>
        <p:nvSpPr>
          <p:cNvPr id="20" name="Text 13"/>
          <p:cNvSpPr/>
          <p:nvPr/>
        </p:nvSpPr>
        <p:spPr>
          <a:xfrm>
            <a:off x="548640" y="45720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Решение: автоматизация через ИИ-ассистента с RAG-архитектурой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D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Цель работы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8046720" cy="1097280"/>
          </a:xfrm>
          <a:prstGeom prst="rect">
            <a:avLst/>
          </a:prstGeom>
          <a:solidFill>
            <a:srgbClr val="028090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371600"/>
            <a:ext cx="640080" cy="640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45920" y="1371600"/>
            <a:ext cx="6675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Разработка интеллектуального чат-бота для автоматизации</a:t>
            </a:r>
            <a:endParaRPr lang="en-US" sz="1800" dirty="0"/>
          </a:p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консультаций по технологическому присоединению</a:t>
            </a:r>
            <a:endParaRPr lang="en-US" sz="18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633472"/>
            <a:ext cx="274320" cy="2743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88720" y="25603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Внедрение гибридного поиска (семантический + лексический)</a:t>
            </a:r>
            <a:endParaRPr lang="en-US" sz="14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108960"/>
            <a:ext cx="274320" cy="27432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188720" y="3035808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Интеграция с векторной базой данных Qdrant</a:t>
            </a:r>
            <a:endParaRPr lang="en-US" sz="14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584448"/>
            <a:ext cx="274320" cy="27432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188720" y="3511296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Обеспечение аутентификации через Supabase</a:t>
            </a:r>
            <a:endParaRPr lang="en-US" sz="140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4059936"/>
            <a:ext cx="274320" cy="27432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188720" y="3986784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Создание интуитивного веб-интерфейса на Vue.js 3</a:t>
            </a:r>
            <a:endParaRPr lang="en-US" sz="1400" dirty="0"/>
          </a:p>
        </p:txBody>
      </p:sp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4535424"/>
            <a:ext cx="274320" cy="274320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1188720" y="4462272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Реализация streaming-генерации ответов через LLM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D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Обзор аналогов продукта</a:t>
            </a:r>
            <a:endParaRPr lang="en-US" sz="2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8046720" cy="2286000"/>
        </p:xfrm>
        <a:graphic>
          <a:graphicData uri="http://schemas.openxmlformats.org/drawingml/2006/table">
            <a:tbl>
              <a:tblPr/>
              <a:tblGrid>
                <a:gridCol w="2286000"/>
                <a:gridCol w="1371600"/>
                <a:gridCol w="1645920"/>
                <a:gridCol w="27432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Решение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RAG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Гибридный поиск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Отраслевая специализация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28090"/>
                          </a:solidFill>
                        </a:rPr>
                        <a:t>ИИ-ассистент</a:t>
                      </a:r>
                      <a:endParaRPr lang="en-US" sz="1100" dirty="0"/>
                    </a:p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28090"/>
                          </a:solidFill>
                        </a:rPr>
                        <a:t>Башкирэнерго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0B981"/>
                          </a:solidFill>
                        </a:rPr>
                        <a:t>✓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0B981"/>
                          </a:solidFill>
                        </a:rPr>
                        <a:t>✓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✓ Энергетика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Универсальные</a:t>
                      </a:r>
                      <a:endParaRPr lang="en-US" sz="1100" dirty="0"/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чат-боты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EF4444"/>
                          </a:solidFill>
                        </a:rPr>
                        <a:t>✗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EF4444"/>
                          </a:solidFill>
                        </a:rPr>
                        <a:t>✗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</a:rPr>
                        <a:t>—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Базы знаний</a:t>
                      </a:r>
                      <a:endParaRPr lang="en-US" sz="1100" dirty="0"/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с поиском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EF4444"/>
                          </a:solidFill>
                        </a:rPr>
                        <a:t>✗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0B981"/>
                          </a:solidFill>
                        </a:rPr>
                        <a:t>✓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</a:rPr>
                        <a:t>—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840480"/>
            <a:ext cx="8046720" cy="1097280"/>
          </a:xfrm>
          <a:prstGeom prst="rect">
            <a:avLst/>
          </a:prstGeom>
          <a:solidFill>
            <a:srgbClr val="028090">
              <a:alpha val="10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822960" y="393192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Ключевое преимущество: комбинация RAG-архитектуры с 4-компонентным гибридным поиском, адаптированная специально для энергетической отрасли с учетом нормативной базы Башкирэнерго.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D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Функциональная модель (Use Case)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2011680"/>
            <a:ext cx="1097280" cy="1097280"/>
          </a:xfrm>
          <a:prstGeom prst="ellipse">
            <a:avLst/>
          </a:prstGeom>
          <a:solidFill>
            <a:srgbClr val="02809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33172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32004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Клиент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2743200" y="1188720"/>
            <a:ext cx="3200400" cy="77724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2743200" y="1188720"/>
            <a:ext cx="54864" cy="77724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9" name="Text 6"/>
          <p:cNvSpPr/>
          <p:nvPr/>
        </p:nvSpPr>
        <p:spPr>
          <a:xfrm>
            <a:off x="2926080" y="123444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Отправка запроса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тех. присоединению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1554480" y="1554480"/>
            <a:ext cx="1097280" cy="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743200" y="2148840"/>
            <a:ext cx="3200400" cy="77724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743200" y="2148840"/>
            <a:ext cx="54864" cy="77724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3" name="Text 10"/>
          <p:cNvSpPr/>
          <p:nvPr/>
        </p:nvSpPr>
        <p:spPr>
          <a:xfrm>
            <a:off x="2926080" y="219456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Получение ответа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 источниками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1554480" y="2514600"/>
            <a:ext cx="1097280" cy="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2743200" y="3108960"/>
            <a:ext cx="3200400" cy="77724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2743200" y="3108960"/>
            <a:ext cx="54864" cy="77724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7" name="Text 14"/>
          <p:cNvSpPr/>
          <p:nvPr/>
        </p:nvSpPr>
        <p:spPr>
          <a:xfrm>
            <a:off x="2926080" y="315468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Просмотр истории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чатов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1554480" y="3474720"/>
            <a:ext cx="1097280" cy="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2743200" y="4069080"/>
            <a:ext cx="3200400" cy="77724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2743200" y="4069080"/>
            <a:ext cx="54864" cy="77724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21" name="Text 18"/>
          <p:cNvSpPr/>
          <p:nvPr/>
        </p:nvSpPr>
        <p:spPr>
          <a:xfrm>
            <a:off x="2926080" y="411480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Оценка качества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ответа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1554480" y="4434840"/>
            <a:ext cx="1097280" cy="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583680" y="1371600"/>
            <a:ext cx="2103120" cy="3200400"/>
          </a:xfrm>
          <a:prstGeom prst="rect">
            <a:avLst/>
          </a:prstGeom>
          <a:solidFill>
            <a:srgbClr val="0F172A">
              <a:alpha val="90000"/>
            </a:srgbClr>
          </a:solidFill>
          <a:ln/>
        </p:spPr>
      </p:sp>
      <p:sp>
        <p:nvSpPr>
          <p:cNvPr id="24" name="Text 21"/>
          <p:cNvSpPr/>
          <p:nvPr/>
        </p:nvSpPr>
        <p:spPr>
          <a:xfrm>
            <a:off x="6583680" y="146304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Система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ИИ-ассистента</a:t>
            </a:r>
            <a:endParaRPr lang="en-US" sz="1300" dirty="0"/>
          </a:p>
        </p:txBody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9480" y="2194560"/>
            <a:ext cx="548640" cy="548640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6583680" y="29260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+ LLM</a:t>
            </a:r>
            <a:endParaRPr lang="en-US" sz="1200" dirty="0"/>
          </a:p>
        </p:txBody>
      </p:sp>
      <p:sp>
        <p:nvSpPr>
          <p:cNvPr id="27" name="Text 23"/>
          <p:cNvSpPr/>
          <p:nvPr/>
        </p:nvSpPr>
        <p:spPr>
          <a:xfrm>
            <a:off x="6583680" y="33832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Qdrant</a:t>
            </a:r>
            <a:endParaRPr lang="en-US" sz="1200" dirty="0"/>
          </a:p>
        </p:txBody>
      </p:sp>
      <p:sp>
        <p:nvSpPr>
          <p:cNvPr id="28" name="Text 24"/>
          <p:cNvSpPr/>
          <p:nvPr/>
        </p:nvSpPr>
        <p:spPr>
          <a:xfrm>
            <a:off x="6583680" y="38404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D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Логическая модель базы данных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108960" cy="3657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887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3108960" cy="2926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55448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 (UUID, PK)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1847088"/>
            <a:ext cx="3108960" cy="292608"/>
          </a:xfrm>
          <a:prstGeom prst="rect">
            <a:avLst/>
          </a:prstGeom>
          <a:solidFill>
            <a:srgbClr val="F0FDFC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84708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email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139696"/>
            <a:ext cx="3108960" cy="2926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139696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encrypted_password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432304"/>
            <a:ext cx="3108960" cy="292608"/>
          </a:xfrm>
          <a:prstGeom prst="rect">
            <a:avLst/>
          </a:prstGeom>
          <a:solidFill>
            <a:srgbClr val="F0FDFC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432304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raw_user_meta_data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2724912"/>
            <a:ext cx="3108960" cy="2926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272491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created_at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3017520"/>
            <a:ext cx="3108960" cy="292608"/>
          </a:xfrm>
          <a:prstGeom prst="rect">
            <a:avLst/>
          </a:prstGeom>
          <a:solidFill>
            <a:srgbClr val="F0FDFC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01752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last_sign_in_at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3017520"/>
            <a:ext cx="3108960" cy="3657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30175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chat_sessions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3383280"/>
            <a:ext cx="3108960" cy="2926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338328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 (UUID, PK)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3675888"/>
            <a:ext cx="3108960" cy="292608"/>
          </a:xfrm>
          <a:prstGeom prst="rect">
            <a:avLst/>
          </a:prstGeom>
          <a:solidFill>
            <a:srgbClr val="F0FDFC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367588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user_id (FK)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3968496"/>
            <a:ext cx="3108960" cy="2926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3968496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title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" y="4261104"/>
            <a:ext cx="3108960" cy="292608"/>
          </a:xfrm>
          <a:prstGeom prst="rect">
            <a:avLst/>
          </a:prstGeom>
          <a:solidFill>
            <a:srgbClr val="F0FDFC"/>
          </a:solidFill>
          <a:ln/>
        </p:spPr>
      </p:sp>
      <p:sp>
        <p:nvSpPr>
          <p:cNvPr id="27" name="Text 25"/>
          <p:cNvSpPr/>
          <p:nvPr/>
        </p:nvSpPr>
        <p:spPr>
          <a:xfrm>
            <a:off x="548640" y="4261104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created_at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4553712"/>
            <a:ext cx="3108960" cy="2926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Text 27"/>
          <p:cNvSpPr/>
          <p:nvPr/>
        </p:nvSpPr>
        <p:spPr>
          <a:xfrm>
            <a:off x="548640" y="455371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updated_at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840480" y="1188720"/>
            <a:ext cx="3108960" cy="3657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1" name="Text 29"/>
          <p:cNvSpPr/>
          <p:nvPr/>
        </p:nvSpPr>
        <p:spPr>
          <a:xfrm>
            <a:off x="3931920" y="11887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messages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3840480" y="1554480"/>
            <a:ext cx="3108960" cy="2926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3" name="Text 31"/>
          <p:cNvSpPr/>
          <p:nvPr/>
        </p:nvSpPr>
        <p:spPr>
          <a:xfrm>
            <a:off x="3931920" y="155448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 (UUID, PK)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840480" y="1847088"/>
            <a:ext cx="3108960" cy="292608"/>
          </a:xfrm>
          <a:prstGeom prst="rect">
            <a:avLst/>
          </a:prstGeom>
          <a:solidFill>
            <a:srgbClr val="F0FDFC"/>
          </a:solidFill>
          <a:ln/>
        </p:spPr>
      </p:sp>
      <p:sp>
        <p:nvSpPr>
          <p:cNvPr id="35" name="Text 33"/>
          <p:cNvSpPr/>
          <p:nvPr/>
        </p:nvSpPr>
        <p:spPr>
          <a:xfrm>
            <a:off x="3931920" y="184708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session_id (FK)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840480" y="2139696"/>
            <a:ext cx="3108960" cy="2926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7" name="Text 35"/>
          <p:cNvSpPr/>
          <p:nvPr/>
        </p:nvSpPr>
        <p:spPr>
          <a:xfrm>
            <a:off x="3931920" y="2139696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role (user/assistant)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840480" y="2432304"/>
            <a:ext cx="3108960" cy="292608"/>
          </a:xfrm>
          <a:prstGeom prst="rect">
            <a:avLst/>
          </a:prstGeom>
          <a:solidFill>
            <a:srgbClr val="F0FDFC"/>
          </a:solidFill>
          <a:ln/>
        </p:spPr>
      </p:sp>
      <p:sp>
        <p:nvSpPr>
          <p:cNvPr id="39" name="Text 37"/>
          <p:cNvSpPr/>
          <p:nvPr/>
        </p:nvSpPr>
        <p:spPr>
          <a:xfrm>
            <a:off x="3931920" y="2432304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content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840480" y="2724912"/>
            <a:ext cx="3108960" cy="2926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1" name="Text 39"/>
          <p:cNvSpPr/>
          <p:nvPr/>
        </p:nvSpPr>
        <p:spPr>
          <a:xfrm>
            <a:off x="3931920" y="272491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sources (JSONB)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3840480" y="3017520"/>
            <a:ext cx="3108960" cy="292608"/>
          </a:xfrm>
          <a:prstGeom prst="rect">
            <a:avLst/>
          </a:prstGeom>
          <a:solidFill>
            <a:srgbClr val="F0FDFC"/>
          </a:solidFill>
          <a:ln/>
        </p:spPr>
      </p:sp>
      <p:sp>
        <p:nvSpPr>
          <p:cNvPr id="43" name="Text 41"/>
          <p:cNvSpPr/>
          <p:nvPr/>
        </p:nvSpPr>
        <p:spPr>
          <a:xfrm>
            <a:off x="3931920" y="301752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created_at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3840480" y="3017520"/>
            <a:ext cx="3108960" cy="3657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5" name="Text 43"/>
          <p:cNvSpPr/>
          <p:nvPr/>
        </p:nvSpPr>
        <p:spPr>
          <a:xfrm>
            <a:off x="3931920" y="30175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feedback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3840480" y="3383280"/>
            <a:ext cx="3108960" cy="2926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7" name="Text 45"/>
          <p:cNvSpPr/>
          <p:nvPr/>
        </p:nvSpPr>
        <p:spPr>
          <a:xfrm>
            <a:off x="3931920" y="338328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 (UUID, PK)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3840480" y="3675888"/>
            <a:ext cx="3108960" cy="292608"/>
          </a:xfrm>
          <a:prstGeom prst="rect">
            <a:avLst/>
          </a:prstGeom>
          <a:solidFill>
            <a:srgbClr val="F0FDFC"/>
          </a:solidFill>
          <a:ln/>
        </p:spPr>
      </p:sp>
      <p:sp>
        <p:nvSpPr>
          <p:cNvPr id="49" name="Text 47"/>
          <p:cNvSpPr/>
          <p:nvPr/>
        </p:nvSpPr>
        <p:spPr>
          <a:xfrm>
            <a:off x="3931920" y="367588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message_id (FK)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3840480" y="3968496"/>
            <a:ext cx="3108960" cy="2926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1" name="Text 49"/>
          <p:cNvSpPr/>
          <p:nvPr/>
        </p:nvSpPr>
        <p:spPr>
          <a:xfrm>
            <a:off x="3931920" y="3968496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user_id (FK)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3840480" y="4261104"/>
            <a:ext cx="3108960" cy="292608"/>
          </a:xfrm>
          <a:prstGeom prst="rect">
            <a:avLst/>
          </a:prstGeom>
          <a:solidFill>
            <a:srgbClr val="F0FDFC"/>
          </a:solidFill>
          <a:ln/>
        </p:spPr>
      </p:sp>
      <p:sp>
        <p:nvSpPr>
          <p:cNvPr id="53" name="Text 51"/>
          <p:cNvSpPr/>
          <p:nvPr/>
        </p:nvSpPr>
        <p:spPr>
          <a:xfrm>
            <a:off x="3931920" y="4261104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rating (like/dislike)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3840480" y="4553712"/>
            <a:ext cx="3108960" cy="2926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5" name="Text 53"/>
          <p:cNvSpPr/>
          <p:nvPr/>
        </p:nvSpPr>
        <p:spPr>
          <a:xfrm>
            <a:off x="3931920" y="455371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created_at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solidFill>
            <a:srgbClr val="E2E8F0">
              <a:alpha val="50000"/>
            </a:srgbClr>
          </a:solidFill>
          <a:ln/>
        </p:spPr>
      </p:sp>
      <p:sp>
        <p:nvSpPr>
          <p:cNvPr id="57" name="Text 55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Связи: users → chat_sessions → messages → feedback  |  Supabase Auth + PostgreSQL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D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UML диаграмма классов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256032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97280"/>
            <a:ext cx="2560320" cy="3657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972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SearchAgent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5087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generateSearchQueries()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8745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searchDocuments()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22402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rankResults()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0" y="1097280"/>
            <a:ext cx="256032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1097280"/>
            <a:ext cx="2560320" cy="36576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2" name="Text 10"/>
          <p:cNvSpPr/>
          <p:nvPr/>
        </p:nvSpPr>
        <p:spPr>
          <a:xfrm>
            <a:off x="3291840" y="10972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ResponseAgent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91840" y="15087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generateResponse()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291840" y="18745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extractSources()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291840" y="22402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formatAnswer()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035040" y="1097280"/>
            <a:ext cx="256032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35040" y="1097280"/>
            <a:ext cx="2560320" cy="36576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8" name="Text 16"/>
          <p:cNvSpPr/>
          <p:nvPr/>
        </p:nvSpPr>
        <p:spPr>
          <a:xfrm>
            <a:off x="6126480" y="10972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SearchTool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126480" y="15087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hybridSearch()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126480" y="18745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normalizeBM25()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126480" y="22402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calculateWeights()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65760" y="3200400"/>
            <a:ext cx="256032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65760" y="3200400"/>
            <a:ext cx="2560320" cy="3657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32004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ChatService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7200" y="36118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handleQuery()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57200" y="39776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streamResponse()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57200" y="43434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saveSession()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200400" y="3200400"/>
            <a:ext cx="256032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200400" y="3200400"/>
            <a:ext cx="2560320" cy="36576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30" name="Text 28"/>
          <p:cNvSpPr/>
          <p:nvPr/>
        </p:nvSpPr>
        <p:spPr>
          <a:xfrm>
            <a:off x="3291840" y="32004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AuthService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291840" y="36118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login()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291840" y="39776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register()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291840" y="43434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validateToken()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035040" y="3200400"/>
            <a:ext cx="256032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035040" y="3200400"/>
            <a:ext cx="2560320" cy="36576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6" name="Text 34"/>
          <p:cNvSpPr/>
          <p:nvPr/>
        </p:nvSpPr>
        <p:spPr>
          <a:xfrm>
            <a:off x="6126480" y="32004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EmbeddingService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126480" y="36118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embedText()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126480" y="39776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getEmbeddings()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126480" y="43434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connectQdrant()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2926080" y="1920240"/>
            <a:ext cx="27432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dash"/>
          </a:ln>
        </p:spPr>
      </p:sp>
      <p:sp>
        <p:nvSpPr>
          <p:cNvPr id="41" name="Shape 39"/>
          <p:cNvSpPr/>
          <p:nvPr/>
        </p:nvSpPr>
        <p:spPr>
          <a:xfrm>
            <a:off x="5760720" y="1920240"/>
            <a:ext cx="27432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dash"/>
          </a:ln>
        </p:spPr>
      </p:sp>
      <p:sp>
        <p:nvSpPr>
          <p:cNvPr id="42" name="Shape 40"/>
          <p:cNvSpPr/>
          <p:nvPr/>
        </p:nvSpPr>
        <p:spPr>
          <a:xfrm>
            <a:off x="1645920" y="2743200"/>
            <a:ext cx="0" cy="457200"/>
          </a:xfrm>
          <a:prstGeom prst="line">
            <a:avLst/>
          </a:prstGeom>
          <a:noFill/>
          <a:ln w="12700">
            <a:solidFill>
              <a:srgbClr val="64748B"/>
            </a:solidFill>
            <a:prstDash val="dash"/>
          </a:ln>
        </p:spPr>
      </p:sp>
      <p:sp>
        <p:nvSpPr>
          <p:cNvPr id="43" name="Shape 41"/>
          <p:cNvSpPr/>
          <p:nvPr/>
        </p:nvSpPr>
        <p:spPr>
          <a:xfrm>
            <a:off x="4480560" y="2743200"/>
            <a:ext cx="0" cy="457200"/>
          </a:xfrm>
          <a:prstGeom prst="line">
            <a:avLst/>
          </a:prstGeom>
          <a:noFill/>
          <a:ln w="12700">
            <a:solidFill>
              <a:srgbClr val="64748B"/>
            </a:solidFill>
            <a:prstDash val="dash"/>
          </a:ln>
        </p:spPr>
      </p:sp>
      <p:sp>
        <p:nvSpPr>
          <p:cNvPr id="44" name="Shape 42"/>
          <p:cNvSpPr/>
          <p:nvPr/>
        </p:nvSpPr>
        <p:spPr>
          <a:xfrm>
            <a:off x="7315200" y="2743200"/>
            <a:ext cx="0" cy="457200"/>
          </a:xfrm>
          <a:prstGeom prst="line">
            <a:avLst/>
          </a:prstGeom>
          <a:noFill/>
          <a:ln w="12700">
            <a:solidFill>
              <a:srgbClr val="64748B"/>
            </a:solidFill>
            <a:prstDash val="dash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D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Жизненный цикл ПО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77240" y="1645920"/>
            <a:ext cx="822960" cy="822960"/>
          </a:xfrm>
          <a:prstGeom prst="ellipse">
            <a:avLst/>
          </a:prstGeom>
          <a:solidFill>
            <a:srgbClr val="02809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82880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265176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Анализ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требований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1600200" y="2057400"/>
            <a:ext cx="320040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240280" y="1645920"/>
            <a:ext cx="822960" cy="822960"/>
          </a:xfrm>
          <a:prstGeom prst="ellipse">
            <a:avLst/>
          </a:prstGeom>
          <a:solidFill>
            <a:srgbClr val="00A896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3160" y="1828800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920240" y="265176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Проекти-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рование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3063240" y="2057400"/>
            <a:ext cx="320040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3703320" y="1645920"/>
            <a:ext cx="822960" cy="822960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6200" y="1828800"/>
            <a:ext cx="457200" cy="4572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383280" y="265176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Раз-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работка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4526280" y="2057400"/>
            <a:ext cx="320040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5166360" y="1645920"/>
            <a:ext cx="822960" cy="822960"/>
          </a:xfrm>
          <a:prstGeom prst="ellipse">
            <a:avLst/>
          </a:prstGeom>
          <a:solidFill>
            <a:srgbClr val="02809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49240" y="1828800"/>
            <a:ext cx="457200" cy="4572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4846320" y="265176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Тести-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рование</a:t>
            </a:r>
            <a:endParaRPr lang="en-US" sz="1100" dirty="0"/>
          </a:p>
        </p:txBody>
      </p:sp>
      <p:sp>
        <p:nvSpPr>
          <p:cNvPr id="19" name="Shape 13"/>
          <p:cNvSpPr/>
          <p:nvPr/>
        </p:nvSpPr>
        <p:spPr>
          <a:xfrm>
            <a:off x="5989320" y="2057400"/>
            <a:ext cx="320040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6629400" y="1645920"/>
            <a:ext cx="822960" cy="822960"/>
          </a:xfrm>
          <a:prstGeom prst="ellipse">
            <a:avLst/>
          </a:prstGeom>
          <a:solidFill>
            <a:srgbClr val="00A896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12280" y="1828800"/>
            <a:ext cx="457200" cy="45720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309360" y="265176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Деплой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 запуск</a:t>
            </a:r>
            <a:endParaRPr lang="en-US" sz="1100" dirty="0"/>
          </a:p>
        </p:txBody>
      </p:sp>
      <p:sp>
        <p:nvSpPr>
          <p:cNvPr id="23" name="Shape 16"/>
          <p:cNvSpPr/>
          <p:nvPr/>
        </p:nvSpPr>
        <p:spPr>
          <a:xfrm>
            <a:off x="7452360" y="2057400"/>
            <a:ext cx="320040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24" name="Shape 17"/>
          <p:cNvSpPr/>
          <p:nvPr/>
        </p:nvSpPr>
        <p:spPr>
          <a:xfrm>
            <a:off x="8092440" y="1645920"/>
            <a:ext cx="822960" cy="822960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75320" y="1828800"/>
            <a:ext cx="457200" cy="45720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7772400" y="265176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Под-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держка</a:t>
            </a:r>
            <a:endParaRPr lang="en-US" sz="1100" dirty="0"/>
          </a:p>
        </p:txBody>
      </p:sp>
      <p:sp>
        <p:nvSpPr>
          <p:cNvPr id="27" name="Text 19"/>
          <p:cNvSpPr/>
          <p:nvPr/>
        </p:nvSpPr>
        <p:spPr>
          <a:xfrm>
            <a:off x="548640" y="34747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Модель: Итеративная разработка с непрерывным циклом обратной связи. Каждый этап включает тестирование и валидацию.</a:t>
            </a:r>
            <a:endParaRPr lang="en-US" sz="1300" dirty="0"/>
          </a:p>
        </p:txBody>
      </p:sp>
      <p:pic>
        <p:nvPicPr>
          <p:cNvPr id="2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640" y="4251960"/>
            <a:ext cx="228600" cy="22860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868680" y="42062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через Docker Compose</a:t>
            </a:r>
            <a:endParaRPr lang="en-US" sz="1200" dirty="0"/>
          </a:p>
        </p:txBody>
      </p:sp>
      <p:pic>
        <p:nvPicPr>
          <p:cNvPr id="3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46320" y="4251960"/>
            <a:ext cx="228600" cy="228600"/>
          </a:xfrm>
          <a:prstGeom prst="rect">
            <a:avLst/>
          </a:prstGeom>
        </p:spPr>
      </p:pic>
      <p:sp>
        <p:nvSpPr>
          <p:cNvPr id="31" name="Text 21"/>
          <p:cNvSpPr/>
          <p:nvPr/>
        </p:nvSpPr>
        <p:spPr>
          <a:xfrm>
            <a:off x="5166360" y="42062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Автоматическое тестирование API</a:t>
            </a:r>
            <a:endParaRPr lang="en-US" sz="1200" dirty="0"/>
          </a:p>
        </p:txBody>
      </p:sp>
      <p:pic>
        <p:nvPicPr>
          <p:cNvPr id="32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8640" y="4663440"/>
            <a:ext cx="228600" cy="228600"/>
          </a:xfrm>
          <a:prstGeom prst="rect">
            <a:avLst/>
          </a:prstGeom>
        </p:spPr>
      </p:pic>
      <p:sp>
        <p:nvSpPr>
          <p:cNvPr id="33" name="Text 22"/>
          <p:cNvSpPr/>
          <p:nvPr/>
        </p:nvSpPr>
        <p:spPr>
          <a:xfrm>
            <a:off x="868680" y="4617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Мониторинг через логи</a:t>
            </a:r>
            <a:endParaRPr lang="en-US" sz="1200" dirty="0"/>
          </a:p>
        </p:txBody>
      </p:sp>
      <p:pic>
        <p:nvPicPr>
          <p:cNvPr id="34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46320" y="4663440"/>
            <a:ext cx="228600" cy="228600"/>
          </a:xfrm>
          <a:prstGeom prst="rect">
            <a:avLst/>
          </a:prstGeom>
        </p:spPr>
      </p:pic>
      <p:sp>
        <p:nvSpPr>
          <p:cNvPr id="35" name="Text 23"/>
          <p:cNvSpPr/>
          <p:nvPr/>
        </p:nvSpPr>
        <p:spPr>
          <a:xfrm>
            <a:off x="5166360" y="4617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Регулярные обновления модели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D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 векторной базы данных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384048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188720"/>
            <a:ext cx="73152" cy="20116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2801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Коллекция: BASHKIR_ENERGO_PERPLEXITY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16916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 эмбеддингов: perplexity/pplx-embed-v1-4b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203911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Размерность вектора: 2560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2386584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Расстояние: Cosine similarity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2734056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Индекс: HNSW (Hierarchical Navigable Small World)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1188720"/>
            <a:ext cx="384048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1188720"/>
            <a:ext cx="73152" cy="201168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0" y="12801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Структура payload: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29200" y="16916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content: текст документа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0" y="203911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summary: краткое содержание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0" y="2386584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hypothetical_questions: гипотетические вопросы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0" y="2734056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источник документа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29200" y="308152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metadata: дополнительные метаданные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8640" y="34747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Компоненты гибридного поиска: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8640" y="3931920"/>
            <a:ext cx="1920240" cy="1005840"/>
          </a:xfrm>
          <a:prstGeom prst="rect">
            <a:avLst/>
          </a:prstGeom>
          <a:solidFill>
            <a:srgbClr val="028090">
              <a:alpha val="15000"/>
            </a:srgbClr>
          </a:solidFill>
          <a:ln/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40080" y="39776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(pref)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0080" y="42519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640080" y="46177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+ content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697480" y="3931920"/>
            <a:ext cx="1920240" cy="1005840"/>
          </a:xfrm>
          <a:prstGeom prst="rect">
            <a:avLst/>
          </a:prstGeom>
          <a:solidFill>
            <a:srgbClr val="00A896">
              <a:alpha val="15000"/>
            </a:srgbClr>
          </a:solidFill>
          <a:ln/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2788920" y="39776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(hype)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788920" y="42519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2788920" y="46177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hypothetical questions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846320" y="3931920"/>
            <a:ext cx="1920240" cy="1005840"/>
          </a:xfrm>
          <a:prstGeom prst="rect">
            <a:avLst/>
          </a:prstGeom>
          <a:solidFill>
            <a:srgbClr val="02C39A">
              <a:alpha val="15000"/>
            </a:srgbClr>
          </a:solidFill>
          <a:ln/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937760" y="39776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Lexical (BM25)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937760" y="42519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4937760" y="46177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лексический поиск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995160" y="3931920"/>
            <a:ext cx="1920240" cy="1005840"/>
          </a:xfrm>
          <a:prstGeom prst="rect">
            <a:avLst/>
          </a:prstGeom>
          <a:solidFill>
            <a:srgbClr val="028090">
              <a:alpha val="15000"/>
            </a:srgbClr>
          </a:solidFill>
          <a:ln/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7086600" y="39776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Contextual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086600" y="42519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2400" dirty="0"/>
          </a:p>
        </p:txBody>
      </p:sp>
      <p:sp>
        <p:nvSpPr>
          <p:cNvPr id="35" name="Text 33"/>
          <p:cNvSpPr/>
          <p:nvPr/>
        </p:nvSpPr>
        <p:spPr>
          <a:xfrm>
            <a:off x="7086600" y="46177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соседние чанки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D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Архитектура системы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0" y="1097280"/>
            <a:ext cx="27432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0" y="11430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(Vue.js 3)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0" y="1737360"/>
            <a:ext cx="0" cy="45720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0" y="2194560"/>
            <a:ext cx="2743200" cy="640080"/>
          </a:xfrm>
          <a:prstGeom prst="rect">
            <a:avLst/>
          </a:prstGeom>
          <a:solidFill>
            <a:srgbClr val="028090"/>
          </a:solidFill>
          <a:ln/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00400" y="22402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 (Port 80)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0" y="2834640"/>
            <a:ext cx="0" cy="45720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0" y="3291840"/>
            <a:ext cx="2743200" cy="640080"/>
          </a:xfrm>
          <a:prstGeom prst="rect">
            <a:avLst/>
          </a:prstGeom>
          <a:solidFill>
            <a:srgbClr val="00A896"/>
          </a:solidFill>
          <a:ln/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00400" y="33375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Backend (Port 8880)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840480" y="3931920"/>
            <a:ext cx="-1371600" cy="54864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303520" y="3931920"/>
            <a:ext cx="1371600" cy="54864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0" y="3931920"/>
            <a:ext cx="0" cy="54864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4480560"/>
            <a:ext cx="256032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4544568"/>
            <a:ext cx="320040" cy="32004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051560" y="449884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</a:t>
            </a: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(PostgreSQL + Auth)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3200400" y="4480560"/>
            <a:ext cx="274320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3280" y="4544568"/>
            <a:ext cx="320040" cy="32004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3794760" y="449884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Qdrant (Port 6333)</a:t>
            </a: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Векторный поиск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6126480" y="4480560"/>
            <a:ext cx="256032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4544568"/>
            <a:ext cx="320040" cy="32004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720840" y="449884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RouterAI API</a:t>
            </a: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+ Embeddings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D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Компоненты системы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65176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2651760" cy="73152"/>
          </a:xfrm>
          <a:prstGeom prst="rect">
            <a:avLst/>
          </a:prstGeom>
          <a:solidFill>
            <a:srgbClr val="02809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28016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88720" y="12801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Agent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40080" y="182880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Генерация поисковых запросов, гибридный поиск, ранжирование результатов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383280" y="1097280"/>
            <a:ext cx="265176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383280" y="1097280"/>
            <a:ext cx="2651760" cy="73152"/>
          </a:xfrm>
          <a:prstGeom prst="rect">
            <a:avLst/>
          </a:prstGeom>
          <a:solidFill>
            <a:srgbClr val="028090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128016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114800" y="12801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Agent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3566160" y="182880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Генерация ответа через LLM, извлечение источников, форматирование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309360" y="1097280"/>
            <a:ext cx="265176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309360" y="1097280"/>
            <a:ext cx="2651760" cy="73152"/>
          </a:xfrm>
          <a:prstGeom prst="rect">
            <a:avLst/>
          </a:prstGeom>
          <a:solidFill>
            <a:srgbClr val="02809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1280160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040880" y="12801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Tool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6492240" y="182880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4-компонентный поиск: pref, hype, contextual, BM25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457200" y="3017520"/>
            <a:ext cx="265176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57200" y="3017520"/>
            <a:ext cx="2651760" cy="73152"/>
          </a:xfrm>
          <a:prstGeom prst="rect">
            <a:avLst/>
          </a:prstGeom>
          <a:solidFill>
            <a:srgbClr val="028090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200400"/>
            <a:ext cx="457200" cy="4572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188720" y="32004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Store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640080" y="374904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Управление состоянием чата, история сессий, streaming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3383280" y="3017520"/>
            <a:ext cx="265176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3383280" y="3017520"/>
            <a:ext cx="2651760" cy="73152"/>
          </a:xfrm>
          <a:prstGeom prst="rect">
            <a:avLst/>
          </a:prstGeom>
          <a:solidFill>
            <a:srgbClr val="028090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66160" y="3200400"/>
            <a:ext cx="457200" cy="45720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114800" y="32004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Service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3566160" y="374904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аутентификация, регистрация, вход через Supabase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6309360" y="3017520"/>
            <a:ext cx="265176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6309360" y="3017520"/>
            <a:ext cx="2651760" cy="73152"/>
          </a:xfrm>
          <a:prstGeom prst="rect">
            <a:avLst/>
          </a:prstGeom>
          <a:solidFill>
            <a:srgbClr val="028090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2240" y="3200400"/>
            <a:ext cx="457200" cy="45720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7040880" y="32004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Service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6492240" y="374904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Векторизация текста, подключение к Qdrant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D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Пайплайн обработки данных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371600"/>
            <a:ext cx="128016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18872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188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173736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Запрос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клиента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37744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Ввод вопроса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чат-бот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645920" y="2194560"/>
            <a:ext cx="182880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828800" y="1371600"/>
            <a:ext cx="128016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240280" y="118872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2240280" y="1188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920240" y="173736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Генерация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поисковых запросов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920240" y="237744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создает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варианты запросов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108960" y="2194560"/>
            <a:ext cx="182880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91840" y="1371600"/>
            <a:ext cx="128016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703320" y="118872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8" name="Text 16"/>
          <p:cNvSpPr/>
          <p:nvPr/>
        </p:nvSpPr>
        <p:spPr>
          <a:xfrm>
            <a:off x="3703320" y="1188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383280" y="173736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Гибридный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поиск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383280" y="237744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компонента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Qdrant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572000" y="2194560"/>
            <a:ext cx="182880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54880" y="1371600"/>
            <a:ext cx="128016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166360" y="118872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4" name="Text 22"/>
          <p:cNvSpPr/>
          <p:nvPr/>
        </p:nvSpPr>
        <p:spPr>
          <a:xfrm>
            <a:off x="5166360" y="1188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846320" y="173736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Ранжирование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результатов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846320" y="237744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Нормализация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 взвешивание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035040" y="2194560"/>
            <a:ext cx="182880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217920" y="1371600"/>
            <a:ext cx="128016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629400" y="118872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0" name="Text 28"/>
          <p:cNvSpPr/>
          <p:nvPr/>
        </p:nvSpPr>
        <p:spPr>
          <a:xfrm>
            <a:off x="6629400" y="1188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309360" y="173736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Генерация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ответа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309360" y="237744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+ контекст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документов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498080" y="2194560"/>
            <a:ext cx="182880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680960" y="1371600"/>
            <a:ext cx="128016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8092440" y="118872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6" name="Text 34"/>
          <p:cNvSpPr/>
          <p:nvPr/>
        </p:nvSpPr>
        <p:spPr>
          <a:xfrm>
            <a:off x="8092440" y="1188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7772400" y="173736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ответа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772400" y="237744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Потоковая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передача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48640" y="3474720"/>
            <a:ext cx="8046720" cy="1371600"/>
          </a:xfrm>
          <a:prstGeom prst="rect">
            <a:avLst/>
          </a:prstGeom>
          <a:solidFill>
            <a:srgbClr val="028090">
              <a:alpha val="10000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822960" y="3566160"/>
            <a:ext cx="7498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Формула гибридного поиска:</a:t>
            </a:r>
            <a:endParaRPr lang="en-US" sz="1300" dirty="0"/>
          </a:p>
          <a:p>
            <a:pPr algn="ctr" indent="0" marL="0">
              <a:buNone/>
            </a:pP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hybrid = 0.4 × pref + 0.3 × hype + 0.1 × contextual + 0.2 × BM25</a:t>
            </a:r>
            <a:endParaRPr lang="en-US" sz="1300" dirty="0"/>
          </a:p>
          <a:p>
            <a:pPr algn="ctr" indent="0" marL="0">
              <a:buNone/>
            </a:pP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BM25 нормализация: score / max_score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D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Инструменты разработки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411480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73152" cy="17373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2344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16459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Python 3.11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19202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FastAPI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21945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Uvicorn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24688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Pydantic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846320" y="1097280"/>
            <a:ext cx="411480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46320" y="1097280"/>
            <a:ext cx="73152" cy="173736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3" name="Text 11"/>
          <p:cNvSpPr/>
          <p:nvPr/>
        </p:nvSpPr>
        <p:spPr>
          <a:xfrm>
            <a:off x="5120640" y="12344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120640" y="16459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Vue.js 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120640" y="19202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Vite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120640" y="21945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Pinia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120640" y="24688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Vue Router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3108960"/>
            <a:ext cx="411480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3108960"/>
            <a:ext cx="73152" cy="173736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32461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Базы данных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31520" y="36576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Supabase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31520" y="39319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PostgreSQL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31520" y="42062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Qdrant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31520" y="44805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pgvector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846320" y="3108960"/>
            <a:ext cx="411480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846320" y="3108960"/>
            <a:ext cx="73152" cy="17373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7" name="Text 25"/>
          <p:cNvSpPr/>
          <p:nvPr/>
        </p:nvSpPr>
        <p:spPr>
          <a:xfrm>
            <a:off x="5120640" y="32461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Инфраструктура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120640" y="36576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Docker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120640" y="39319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Docker Compose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120640" y="42062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Nginx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120640" y="44805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RouterAI API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FD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Календарь разработки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Анализ требований</a:t>
            </a:r>
            <a:endParaRPr lang="en-US" sz="1200" dirty="0"/>
          </a:p>
          <a:p>
            <a:pPr algn="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 проектирование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926080" y="1463040"/>
            <a:ext cx="1234440" cy="457200"/>
          </a:xfrm>
          <a:prstGeom prst="rect">
            <a:avLst/>
          </a:prstGeom>
          <a:solidFill>
            <a:srgbClr val="028090"/>
          </a:solidFill>
          <a:ln/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21031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Разработка</a:t>
            </a:r>
            <a:endParaRPr lang="en-US" sz="1200" dirty="0"/>
          </a:p>
          <a:p>
            <a:pPr algn="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160520" y="2148840"/>
            <a:ext cx="2057400" cy="457200"/>
          </a:xfrm>
          <a:prstGeom prst="rect">
            <a:avLst/>
          </a:prstGeom>
          <a:solidFill>
            <a:srgbClr val="00A896"/>
          </a:solidFill>
          <a:ln/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27889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Разработка</a:t>
            </a:r>
            <a:endParaRPr lang="en-US" sz="1200" dirty="0"/>
          </a:p>
          <a:p>
            <a:pPr algn="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983480" y="2834640"/>
            <a:ext cx="1645920" cy="457200"/>
          </a:xfrm>
          <a:prstGeom prst="rect">
            <a:avLst/>
          </a:prstGeom>
          <a:solidFill>
            <a:srgbClr val="02C39A"/>
          </a:solidFill>
          <a:ln/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7200" y="34747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Интеграция</a:t>
            </a:r>
            <a:endParaRPr lang="en-US" sz="1200" dirty="0"/>
          </a:p>
          <a:p>
            <a:pPr algn="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 тестирование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629400" y="3520440"/>
            <a:ext cx="1645920" cy="457200"/>
          </a:xfrm>
          <a:prstGeom prst="rect">
            <a:avLst/>
          </a:prstGeom>
          <a:solidFill>
            <a:srgbClr val="028090"/>
          </a:solidFill>
          <a:ln/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7200" y="41605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Деплой и</a:t>
            </a:r>
            <a:endParaRPr lang="en-US" sz="1200" dirty="0"/>
          </a:p>
          <a:p>
            <a:pPr algn="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запуск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275320" y="4206240"/>
            <a:ext cx="1234440" cy="457200"/>
          </a:xfrm>
          <a:prstGeom prst="rect">
            <a:avLst/>
          </a:prstGeom>
          <a:solidFill>
            <a:srgbClr val="00A896"/>
          </a:solidFill>
          <a:ln/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926080" y="41148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Янв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337560" y="4023360"/>
            <a:ext cx="0" cy="9144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49040" y="41148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Фев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160520" y="4023360"/>
            <a:ext cx="0" cy="9144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0" y="41148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Мар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983480" y="4023360"/>
            <a:ext cx="0" cy="9144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94960" y="41148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Апр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806440" y="4023360"/>
            <a:ext cx="0" cy="9144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17920" y="41148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Май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629400" y="4023360"/>
            <a:ext cx="0" cy="9144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040880" y="41148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Июн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452360" y="4023360"/>
            <a:ext cx="0" cy="9144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863840" y="41148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Июл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8275320" y="4023360"/>
            <a:ext cx="0" cy="9144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686800" y="41148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Авг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9098280" y="4023360"/>
            <a:ext cx="0" cy="9144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45720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Ключевые вехи: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2926080" y="45720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Прототип RAG-архитектуры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029200" y="45720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Интеграция с Qdrant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132320" y="45720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Запуск production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0FD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Основные результаты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92024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1920240" cy="73152"/>
          </a:xfrm>
          <a:prstGeom prst="rect">
            <a:avLst/>
          </a:prstGeom>
          <a:solidFill>
            <a:srgbClr val="02809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1371600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201168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</a:t>
            </a:r>
            <a:endParaRPr lang="en-US" sz="3200" dirty="0"/>
          </a:p>
        </p:txBody>
      </p:sp>
      <p:sp>
        <p:nvSpPr>
          <p:cNvPr id="8" name="Text 5"/>
          <p:cNvSpPr/>
          <p:nvPr/>
        </p:nvSpPr>
        <p:spPr>
          <a:xfrm>
            <a:off x="548640" y="256032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Снижение нагрузки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операторов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2651760" y="1188720"/>
            <a:ext cx="192024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2651760" y="1188720"/>
            <a:ext cx="1920240" cy="73152"/>
          </a:xfrm>
          <a:prstGeom prst="rect">
            <a:avLst/>
          </a:prstGeom>
          <a:solidFill>
            <a:srgbClr val="028090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7560" y="1371600"/>
            <a:ext cx="548640" cy="5486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743200" y="201168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3 сек</a:t>
            </a:r>
            <a:endParaRPr lang="en-US" sz="3200" dirty="0"/>
          </a:p>
        </p:txBody>
      </p:sp>
      <p:sp>
        <p:nvSpPr>
          <p:cNvPr id="13" name="Text 9"/>
          <p:cNvSpPr/>
          <p:nvPr/>
        </p:nvSpPr>
        <p:spPr>
          <a:xfrm>
            <a:off x="2743200" y="256032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Время генерации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ответа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4846320" y="1188720"/>
            <a:ext cx="192024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846320" y="1188720"/>
            <a:ext cx="1920240" cy="73152"/>
          </a:xfrm>
          <a:prstGeom prst="rect">
            <a:avLst/>
          </a:prstGeom>
          <a:solidFill>
            <a:srgbClr val="02809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2120" y="1371600"/>
            <a:ext cx="548640" cy="5486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937760" y="201168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</a:t>
            </a:r>
            <a:endParaRPr lang="en-US" sz="3200" dirty="0"/>
          </a:p>
        </p:txBody>
      </p:sp>
      <p:sp>
        <p:nvSpPr>
          <p:cNvPr id="18" name="Text 13"/>
          <p:cNvSpPr/>
          <p:nvPr/>
        </p:nvSpPr>
        <p:spPr>
          <a:xfrm>
            <a:off x="4937760" y="256032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Точность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ответов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7040880" y="1188720"/>
            <a:ext cx="192024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040880" y="1188720"/>
            <a:ext cx="1920240" cy="73152"/>
          </a:xfrm>
          <a:prstGeom prst="rect">
            <a:avLst/>
          </a:prstGeom>
          <a:solidFill>
            <a:srgbClr val="028090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26680" y="1371600"/>
            <a:ext cx="548640" cy="54864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132320" y="201168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24/7</a:t>
            </a:r>
            <a:endParaRPr lang="en-US" sz="3200" dirty="0"/>
          </a:p>
        </p:txBody>
      </p:sp>
      <p:sp>
        <p:nvSpPr>
          <p:cNvPr id="23" name="Text 17"/>
          <p:cNvSpPr/>
          <p:nvPr/>
        </p:nvSpPr>
        <p:spPr>
          <a:xfrm>
            <a:off x="7132320" y="256032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Доступность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системы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548640" y="34747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Дополнительные достижения:</a:t>
            </a:r>
            <a:endParaRPr lang="en-US" sz="1600" dirty="0"/>
          </a:p>
        </p:txBody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3977640"/>
            <a:ext cx="228600" cy="22860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868680" y="39319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Реализован гибридный поиск с 4 компонентами</a:t>
            </a:r>
            <a:endParaRPr lang="en-US" sz="1200" dirty="0"/>
          </a:p>
        </p:txBody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6320" y="3977640"/>
            <a:ext cx="228600" cy="228600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5166360" y="39319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Интеграция с существующей инфраструктурой Qdrant</a:t>
            </a:r>
            <a:endParaRPr lang="en-US" sz="1200" dirty="0"/>
          </a:p>
        </p:txBody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640" y="4389120"/>
            <a:ext cx="228600" cy="228600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868680" y="43434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Streaming-генерация ответов через SSE</a:t>
            </a:r>
            <a:endParaRPr lang="en-US" sz="1200" dirty="0"/>
          </a:p>
        </p:txBody>
      </p:sp>
      <p:pic>
        <p:nvPicPr>
          <p:cNvPr id="3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46320" y="4389120"/>
            <a:ext cx="228600" cy="228600"/>
          </a:xfrm>
          <a:prstGeom prst="rect">
            <a:avLst/>
          </a:prstGeom>
        </p:spPr>
      </p:pic>
      <p:sp>
        <p:nvSpPr>
          <p:cNvPr id="32" name="Text 22"/>
          <p:cNvSpPr/>
          <p:nvPr/>
        </p:nvSpPr>
        <p:spPr>
          <a:xfrm>
            <a:off x="5166360" y="43434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Полная аутентификация и авторизация</a:t>
            </a:r>
            <a:endParaRPr lang="en-US" sz="1200" dirty="0"/>
          </a:p>
        </p:txBody>
      </p:sp>
      <p:pic>
        <p:nvPicPr>
          <p:cNvPr id="33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8640" y="4800600"/>
            <a:ext cx="228600" cy="228600"/>
          </a:xfrm>
          <a:prstGeom prst="rect">
            <a:avLst/>
          </a:prstGeom>
        </p:spPr>
      </p:pic>
      <p:sp>
        <p:nvSpPr>
          <p:cNvPr id="34" name="Text 23"/>
          <p:cNvSpPr/>
          <p:nvPr/>
        </p:nvSpPr>
        <p:spPr>
          <a:xfrm>
            <a:off x="868680" y="47548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История чатов с возможностью поиска</a:t>
            </a:r>
            <a:endParaRPr lang="en-US" sz="1200" dirty="0"/>
          </a:p>
        </p:txBody>
      </p:sp>
      <p:pic>
        <p:nvPicPr>
          <p:cNvPr id="35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46320" y="4800600"/>
            <a:ext cx="228600" cy="228600"/>
          </a:xfrm>
          <a:prstGeom prst="rect">
            <a:avLst/>
          </a:prstGeom>
        </p:spPr>
      </p:pic>
      <p:sp>
        <p:nvSpPr>
          <p:cNvPr id="36" name="Text 24"/>
          <p:cNvSpPr/>
          <p:nvPr/>
        </p:nvSpPr>
        <p:spPr>
          <a:xfrm>
            <a:off x="5166360" y="47548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Система обратной связи (like/dislike)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28090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3200400" y="1645920"/>
            <a:ext cx="274320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92024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Благодарю за внимание!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914400" y="283464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0FD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ИИ-ассистент по технологическому присоединению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F0FD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готов к промышленной эксплуатации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4572000" cy="73152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2286000" y="39776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Контакты: almaz_sabitov04@mail.ru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286000" y="42976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ИИ-ассистент по технологическому присоединению</dc:title>
  <dc:subject>PptxGenJS Presentation</dc:subject>
  <dc:creator>ИИ-Ассистент Башкирэнерго</dc:creator>
  <cp:lastModifiedBy>ИИ-Ассистент Башкирэнерго</cp:lastModifiedBy>
  <cp:revision>1</cp:revision>
  <dcterms:created xsi:type="dcterms:W3CDTF">2026-04-13T06:16:33Z</dcterms:created>
  <dcterms:modified xsi:type="dcterms:W3CDTF">2026-04-13T06:16:33Z</dcterms:modified>
</cp:coreProperties>
</file>